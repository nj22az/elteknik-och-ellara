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ny labbdag. Inte Arduino. Inte TS-blankett. Prov efter 12.1. Facit laddas inte upp där elever ser 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felsökning (m12). Inte skriftligt prov. Inte hållkrets omberättad. Papper först.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11.1.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papper. Händer bara död tavla/24 V om varvet 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letar myndighetsformulär. Ingenjören är klar när det går.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Klistra inte lagtext. SOLAS-intyg som *ska* är inte 45 p-kärna.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230 vs 24 V väntar på varvet. Spegla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Olyckor-sida + IP-kontrollpunkt. Inte en TS-kontrollrubrik.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Hellre noll exempelceller här, enligt källpaket.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7.1/9.1 utan omberättelse.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Krav-sida *bör*. GAP: ingen mall, inga obligatoriska fält utöver det TS nämner.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Quizkärnan.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 hemma. Inte ny labbdag.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Inte ny installation.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Labbdag v2. Inte nytt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 Inte m12/prov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TS-blankett- och IP-matris-frågor.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Andra halvan av vecka 9, efter 11.1. Inte provblad. Inte Arduino. Inte villa-PE.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12.1.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Ticket Labbdag v2 Lab I: död tavla / 24 V om de har. Inte live-wiring.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följer nollan. Ingenjören kan den. Stående maskin ≠ död krets.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Kedjan är kursmetod, inte TSFS-paragraf.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11.1 bara som pek: felsök utan papper = inte färdigt. Inte omberättat.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VG skriver kedjan själv. Inte sju TSFS-steg.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Quizkärnan. Pek 2.1, inte omberättad isolationföreläsning.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Pek 1.1/5.1.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Quizkärnan. Pek 6.1/7.1 utan omberättelse.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Pek 5.1/10.1. Inte gissa med spänning.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provfrågor. Inte händer hemma.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nytt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 Inte skriftligt prov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prov- och PE-jakt-frågor.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Lärare: facit stannar hos dig. Ladda inte upp det i uppgiften elever ser. Elever får bara elevbladet.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inte svaren. Peka struktur. Inga nöd/EX/landström-frågor på provet.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här är elevbladets rubriker, inte facit. Mata inte svar. Inga labbfrågor. Inga nöd/EX/landström-frågor.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den som vill ha facit i chatten. Elevbladet är kurs/prov/skriftligt-prov-elev.md. Facit stannar hos läraren.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Elarbete, felsökning och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11 + modul 12  ·  sedan skriftligt prov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Kåpa och intyg. Ställning på papper. Elevblad till provet — inte facit.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11.1 Enklare elarbete, IP, intyg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9 · distans Kåpa tillbaka. Märkning. Pedagogiskt intyg till befälhavaren. Ingen TS-blankett.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11.1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11-1-arbete-ip-int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Öppen mot stängd kåpa. Intyg till befälhavaren, märkt inte TS-blankett. Ingen IP-matris på sliden.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Kryssa kåpa/packning tillbaka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Märkning på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Fylla intyg till befälhavaren: regelverk + tillämpad standard, namn, vad, när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Säga att det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inte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är en TS-blankett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VG: packning mot stöt/fukt, utan tabell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Ingen TS-blankett att hämta.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Snurrar ≠ intyg.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 och bör,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048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Efter öppnat hölje: täthet tillbaka innan det räknas som färdigt. Efter arbetet: intyg till befälhavaren att regelverk och tillämpad standard följts. Det finns ingen TS-blankett.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182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2 kap. 6 § fackmässigt. 1 kap. 29 § dokumentation (pek 9.1). Intyg till befälhavaren = *bör* på krav-sidan, inte skall-mall.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72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IP-tabell i sliden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TS-blankett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Live 440 / öppna 440 för jobbet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Lås 230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Omberättad 10.1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m12 felsökning, skriftligt prov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•  Ny labbdag, 80005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Kåpa tillbaka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Kåpa, packning, gland. Del av jobbet, inte städning. “Återställd IP” =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vår härledning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, inte TS-rubrik.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IP-tabell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Peka URL om någon frågar. Noll celler på sliden. VG motiverar mot stöt och fukt i vanlig svenska.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Märkning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Märkning på efter arbetet. Ingår i att jobbet är färdigt, inte extra.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Intyg till befälhavaren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Till *befälhavaren*. Regelverk + tillämpad standard. Namn, vad, när. Pedagogisk mall = vår. Inte TS-produkt.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Ingen TS-blankett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Finns inte att hämta. Utan myndighetsblankett finns ändå intyg — vårt papper. Inte ELSÄK-auktorisation som enda bevis (pek 1.1).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Snurrar ≠ intyg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Funktion är inte papper. Kåpa + märkning + intyg = klart.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Papperövningen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Foto öppen kåpa vs stängd. Tom pedagogisk intygsmall. En rad: IP-tabell = URL, inte klistra.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kryssa stängd kåpa; fyll intyg till befälhavaren; en mening ingen TS-blankett; en mening inte öppna 440.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varför packning mot stöt/fukt, utan tabell.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Uttag bytt i inredning. Ingenjör: “det snurrar, klart.” Kåpa lös. Elektriker letar TS-blankett, hittar ingen, hoppar papper.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kedja: isolation (pek 2.1) → arbete i *befintlig* grupp → kåpa/packning → märkning → intyg till befälhavaren, vår mall → inte 440.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live 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Inte öppna 440 för att “göra jobbet”. Varv: död tavla / 24 V om de har. Inte lås 230. Inte live-wiring.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Fyra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Ingen TS-blankett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Snurrar ≠ intyg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Kåpa tillbaka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live 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11  ·  ELARBETE, IP, INTYG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11.1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Felsökning (m12). Skriftligt prov. Hållkrets omberättad. SOLAS-intyg som skall. IEC/IP-tabell. 80005.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samma kåpa + intyg under handledning, värd kan kvittera övningstavla återställd.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12.1 Risk, strukturerad felsökning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9b · distans Papper med ställning. Inte PE-jakt. Inte DMM på MSB. Inte live 440.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12.1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12-1-felsok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Sjustegskedja. Inte PE-jakt, inte live 440, inte DMM på MSB. VG skriver kedjan själv.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1612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Hitta felet *med ställning* på papper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G: följ given kedja, peka rätt fel, skriv “inte 440, inte MSB”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VG: skriv kedjan själv + motivera åtgärden mot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Inte PE-jakt.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Metod innan handen.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Felsök så att du inte gör stöt eller kort av sökandet. Isolation först. Ritning innan luckan. Rätt instrument. Inte live huvudtavla. Inte gissa.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Klistra inte lagtext. 2 kap. 6 § fackmässigt. Dokumentation så felsökning är möjlig = pek 9.1.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025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Skriftligt prov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Omberättad 11.1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PE-jakt från villa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Live 440, DMM på MSB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Lås 230, ny labbdag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Arduino, IEC-felträd, 80005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Ställningen (G får den given)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2072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1.  Symptom i en mening. Inte peka prober än.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2.  Namnge spänningstyp. 440 = look-not-touch.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3.  Isolation / död-koll om du ska in.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4.  Ritning: styr eller last.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5.  Instrument: tvåpol, DMM på tränare — inte MSB, inte megger live.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6.  Ett test. Inte tre gissningar.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7.  Åtgärd + papper.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Isolation först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Hoppa steg 3 = IG. Prober först = 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PE-jakt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PE är inte felsöknyckeln ombord. Inte JFB som bevis. Inte fas–skrov som nolla.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DMM på MSB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Inte motorfel från spänningssatt huvudtavla. Fel ställe. Live tavla.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live 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Look-not-touch. Ett test på död/ELV-sida. 24 V-styr skilt från 440-last.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Metod innan handen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“Den gick ju” / “jag kan den” är inte kedja. Ett test, inte tre gissningar.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Papperövningen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Symptomkort “startar inte”. Enlinje 24 V-styr + 440-motor look-not-touch. Kretsschema med *ett* lagt fel (öppen håll eller lös 24 V — inte villa-PE).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följ numrerad ställning, peka rätt fel, skriv “inte 440, inte MSB”.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skriv kedjan själv + motivera åtgärden (varför inte PE-jakt, varför isolation).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“Pumpen startar inte.” Elektriker jagar PE på 440-tavlan. Ingenjör: “den gick i går,” prober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Rätt kedja: symptom → 24 V-styr eller 440-last på papper → isolation → schema → ett test på död/ELV → inte MSB → inte fas–skrov.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Varvet, inte lås 230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Lab I: död tavla eller 24 V om de har. Ett lagt fel. Inte live-wiring. Inte 440-mätning. Inte DMM på MSB.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hittar felet med ställning. VG: själv + riskmening. IG: prober först.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Fyra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PE-jakt ombord? Nej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DMM på MSB för motorfel? Nej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Isolation först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Inte live 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45536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MODUL 12  ·  FELSÖKNING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12.1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Skriftligt prov (eget blad, inte nu). 11.1 omberättad. Germanica. Nöd/EX/land. Arduino. Villa-PE. IEC-felträd. Lås 230.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samma ställning under handledning, ett test, inte tre gissningar.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SKRIFTLIGT PROV  ·  BARA ELEVBLAD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Skriftligt prov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4846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Efter 12.1. Ett prov, båda spåren. Distans i Classroom.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Betyg IG / G / VG. Alla gör samma blad. Frågor märkta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VG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krävs för VG.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Tillåtet: miniräknare och linjal. Inte lektionsblad öppna om läraren inte sagt det.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Ladda ner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elevbladet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. Skriv namn och spår. Svara kort. Rita där det står rita.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Facit laddas inte upp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i uppgiften elever ser. Bara elevbladet.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Inte Arduino. Inte ny labbdag. Inte TS-blankett att lämna in. Inte 12.1 omberättad här.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SKRIFTLIGT PROV  ·  BARA ELEVBLAD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Tre delar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3503167" cy="46634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3503167" cy="73152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09344"/>
            <a:ext cx="3137407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1F4D3A"/>
                </a:solidFill>
                <a:latin typeface="Calibri"/>
              </a:rPr>
              <a:t>Del A  ·  G-golv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04872"/>
            <a:ext cx="3137407" cy="3291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1D1D1F"/>
                </a:solidFill>
                <a:latin typeface="Calibri"/>
              </a:rPr>
              <a:t>DC serie/parallell. Enfas rms. Trefasbegrepp. Eltavla. Hållkrets. Stöt och isolation. SMS. Ritning. Skall mot vägledning. Intyg till befälhavaren.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415" y="1353312"/>
            <a:ext cx="3503167" cy="46634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415" y="1353312"/>
            <a:ext cx="3503167" cy="73152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7295" y="1609344"/>
            <a:ext cx="3137407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1F4D3A"/>
                </a:solidFill>
                <a:latin typeface="Calibri"/>
              </a:rPr>
              <a:t>Del B  ·  VG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7295" y="2404872"/>
            <a:ext cx="3137407" cy="3291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1D1D1F"/>
                </a:solidFill>
                <a:latin typeface="Calibri"/>
              </a:rPr>
              <a:t>Görs av alla, krävs för VG. Samband i kretsar. Motivera skyddsåtgärd från risk. Tolka schema — var börjar du, varför inte live MSB.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0463" y="1353312"/>
            <a:ext cx="3503167" cy="46634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0463" y="1353312"/>
            <a:ext cx="3503167" cy="73152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3343" y="1609344"/>
            <a:ext cx="3137407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1F4D3A"/>
                </a:solidFill>
                <a:latin typeface="Calibri"/>
              </a:rPr>
              <a:t>Del C  ·  fällor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343" y="2404872"/>
            <a:ext cx="3137407" cy="3291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1D1D1F"/>
                </a:solidFill>
                <a:latin typeface="Calibri"/>
              </a:rPr>
              <a:t>Korta kryss. G: rätt kryss. Typfel som 1 MΩ som lag, TS-blankett, JFB ombord, tång som volt, DC-läge på AC.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SKRIFTLIGT PROV  ·  BARA ELEVBLAD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Del A — vad som ligger på G-golvet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353312"/>
          <a:ext cx="10875262" cy="4846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2620"/>
                <a:gridCol w="5872642"/>
              </a:tblGrid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Uppgift (elevbladet)</a:t>
                      </a:r>
                    </a:p>
                  </a:txBody>
                  <a:tcPr anchor="ctr" marL="91440" marR="91440" marT="54864" marB="54864">
                    <a:solidFill>
                      <a:srgbClr val="1F4D3A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DC, serie/parallell — två 12 Ω, 24 V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A2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Enfas AC, resistiv — 230 V rms, last 230 Ω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Trefas och spänningstyper — de tre låsta begreppen, linje vs fas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A4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Eltavla — huvud vs grupp; DMM på spänningssatt MSB?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A5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Hållkrets — start NO, stopp NC, håll parallellt med start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A6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Stöt och isolation — varför innan arbete; står motorn = död?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A7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SMS — rederiets rutiner eller TS-blankett utantill?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A8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Ritning och mått — enlinje vs krets; gissa med live?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A9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Skall vs vägledning — 5 kap. 1–7 § mot »Så här görs kontroll«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  <a:tr h="44057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A10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D1D1F"/>
                          </a:solidFill>
                          <a:latin typeface="Calibri"/>
                        </a:rPr>
                        <a:t>Intyg — till vem, regelverk + standard, finns TS-blankett?</a:t>
                      </a:r>
                    </a:p>
                  </a:txBody>
                  <a:tcPr anchor="ctr" marL="91440" marR="91440" marT="54864" marB="54864">
                    <a:solidFill>
                      <a:srgbClr val="F4F7F5"/>
                    </a:solidFill>
                    <a:lnL w="6350" cap="flat" cmpd="sng" algn="ctr">
                      <a:solidFill>
                        <a:srgbClr val="D2D2D7"/>
                      </a:solidFill>
                    </a:lnL>
                    <a:lnR w="6350" cap="flat" cmpd="sng" algn="ctr">
                      <a:solidFill>
                        <a:srgbClr val="D2D2D7"/>
                      </a:solidFill>
                    </a:lnR>
                    <a:lnT w="6350" cap="flat" cmpd="sng" algn="ctr">
                      <a:solidFill>
                        <a:srgbClr val="D2D2D7"/>
                      </a:solidFill>
                    </a:lnT>
                    <a:lnB w="6350" cap="flat" cmpd="sng" algn="ctr">
                      <a:solidFill>
                        <a:srgbClr val="D2D2D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9  ·  m11 elarbete  ·  m12 felsökning  ·  prov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9  ·  SKRIFTLIGT PROV  ·  BARA ELEVBLAD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Del B och Del C — elevbladet, inte facit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4846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VG1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Samband i parallellkretsen från A1.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VG2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Risk: kollega »kollar 440« med DMM på huvudtavlan och jagar PE som hemma. Motivera en skyddsåtgärd från risk.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VG3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Schema: hållkontakten sluter inte. Symptom? 24 V-styr eller 440-last? Varför inte live MSB?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Del C</a:t>
            </a:r>
            <a:r>
              <a:rPr sz="1700" b="0" i="0">
                <a:solidFill>
                  <a:srgbClr val="1D1D1F"/>
                </a:solidFill>
                <a:latin typeface="Calibri"/>
              </a:rPr>
              <a:t> Kryssa det som är fel att göra eller tro. Flera kan vara fel. Påståenden på elevbladet — rätta inte här.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D1D1F"/>
                </a:solidFill>
                <a:latin typeface="Calibri"/>
              </a:rPr>
              <a:t>•  Slut. Inga labbfrågor. Inga nöd/EX/landström-frågor. </a:t>
            </a:r>
            <a:r>
              <a:rPr sz="1700" b="1" i="0">
                <a:solidFill>
                  <a:srgbClr val="1D1D1F"/>
                </a:solidFill>
                <a:latin typeface="Calibri"/>
              </a:rPr>
              <a:t>Inget facit på de här slidarna.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