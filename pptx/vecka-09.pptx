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ny labbdag. Inte Arduino. Inte TS-blankett. Prov efter 12.1. Facit laddas inte upp där elever ser 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felsökning (m12). Inte skriftligt prov. Inte hållkrets omberättad. Papper först.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11.1.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papper. Händer bara död tavla/24 V om varvet 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letar myndighetsformulär. Ingenjören är klar när det går.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Klistra inte lagtext. SOLAS-intyg som *ska* är inte 45 p-kärna.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230 vs 24 V väntar på varvet. Spegla 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Olyckor-sida + IP-kontrollpunkt. Inte en TS-kontrollrubrik.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Hellre noll exempelceller här, enligt källpaket.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 7.1/9.1 utan omberättelse.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Krav-sida *bör*. GAP: ingen mall, inga obligatoriska fält utöver det TS nämner.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 Quizkärnan.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Ingenjörshålet.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händer hemma. Inte ny labbdag.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 Inte ny installation.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Labbdag v2. Inte nytt schema.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Facit i quizbladet. Inte m12/prov här.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TS-blankett- och IP-matris-frågor.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Andra halvan av vecka 9, efter 11.1. Inte provblad. Inte Arduino. Inte villa-PE.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12.1.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 Labbdag v2 Lab I: död tavla / 24 V om de har. Inte live-wiring.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följer nollan. Ingenjören kan den. Stående maskin ≠ död krets.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Kedjan är kursmetod, inte TSFS-paragraf.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11.1 bara som pek: felsök utan papper = inte färdigt. Inte omberättat.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VG skriver kedjan själv. Inte sju TSFS-steg.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Quizkärnan. Pek 2.1, inte omberättad isolationföreläsning.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 Pek 1.1/5.1.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Quizkärnan. Pek 6.1/7.1 utan omberättelse.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 5.1/10.1. Inte gissa med spänning.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Ingenjörshålet.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provfrågor. Inte händer hemma.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nytt schema.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Facit i quizbladet. Inte skriftligt prov här.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prov- och PE-jakt-frågor.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Lärare: facit stannar hos dig. Ladda inte upp det i uppgiften elever ser. Elever får bara elevbladet.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inte svaren. Peka struktur. Inga nöd/EX/landström-frågor på provet.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elevbladets rubriker, inte facit. Mata inte svar. Inga labbfrågor. Inga nöd/EX/landström-frågor.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den som vill ha facit i chatten. Elevbladet är kurs/prov/skriftligt-prov-elev.md. Facit stannar hos läraren.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IBM Plex Sans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IBM Plex Sans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IBM Plex Sans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IBM Plex Sans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IBM Plex Sans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1554480"/>
            <a:ext cx="11338560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Medium"/>
                <a:ea typeface="IBM Plex Sans Medium"/>
              </a:rPr>
              <a:t>ELTEKNIK OCH ELLÄRA  ·  45 YH-POÄNG  ·  VECKA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965960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Elarbete, felsökning och prov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651760"/>
            <a:ext cx="3840480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Modul 11 + modul 12  ·  sedan skriftligt prov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200400"/>
            <a:ext cx="11338560" cy="10058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Distans. Kåpa och intyg. Ställning på papper. Elevblad till provet — inte facit.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663440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304" y="4663440"/>
            <a:ext cx="164592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09671" y="4663440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6495" y="4663440"/>
            <a:ext cx="164592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11.1 Enklare elarbete, IP, intyg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Elteknik och ellära · vecka 9 · distans Kåpa tillbaka. Märkning. Pedagogiskt intyg till befälhavaren. Ingen TS-blankett.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Figur 11.1</a:t>
            </a:r>
          </a:p>
        </p:txBody>
      </p:sp>
      <p:pic>
        <p:nvPicPr>
          <p:cNvPr id="22" name="Picture 21" descr="figur-11-1-arbete-ip-inty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863840" cy="442108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12480" y="1234440"/>
            <a:ext cx="3337560" cy="47548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Öppen mot stängd kåpa. Intyg till befälhavaren, märkt inte TS-blankett. Ingen IP-matris på sliden.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Efter den här veckan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104" y="12344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Kryssa kåpa/packning tillbaka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77292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104" y="177292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Märkning på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3114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104" y="23114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Fylla intyg till befälhavaren: regelverk + tillämpad standard, namn, vad, när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8498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104" y="28498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Säga att det inte är en TS-blankett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33883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104" y="33883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VG: packning mot stöt/fukt, utan tabell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 spår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Elektriker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 TS-blankett att hämta.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Ingenjör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Snurrar ≠ intyg.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Skall och bör, en mening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Efter öppnat hölje: täthet tillbaka innan det räknas som färdigt. Efter arbetet: intyg till befälhavaren att regelverk och tillämpad standard följts. Det finns ingen TS-blankett.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TSFS 2017:26 5 kap. 5 §. Parafras. 2 kap. 6 § fackmässigt. 1 kap. 29 § dokumentation (pek 9.1). Intyg till befälhavaren = *bör* på krav-sidan, inte skall-mall.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den här veckan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904" y="123444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IP-tabell i sliden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623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904" y="162356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TS-blankett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012696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904" y="2012696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Live 440 / öppna 440 för jobbet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40182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904" y="2401824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Lås 230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279095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904" y="2790952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Omberättad 10.1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" y="318008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904" y="318008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m12 felsökning, skriftligt prov</a:t>
            </a:r>
          </a:p>
        </p:txBody>
      </p:sp>
      <p:sp>
        <p:nvSpPr>
          <p:cNvPr id="34" name="Oval 33"/>
          <p:cNvSpPr/>
          <p:nvPr/>
        </p:nvSpPr>
        <p:spPr>
          <a:xfrm>
            <a:off x="457200" y="356920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904" y="356920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Ny labbdag, 80005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Kåpa tillbaka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Kåpa, packning, gland. Del av jobbet, inte städning. “Återställd IP” = vår härledning, inte TS-rubrik.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IP-tabell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Peka URL om någon frågar. Noll celler på sliden. VG motiverar mot stöt och fukt i vanlig svenska.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Märkning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Märkning på efter arbetet. Ingår i att jobbet är färdigt, inte extra.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Intyg till befälhavaren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Till *befälhavaren*. Regelverk + tillämpad standard. Namn, vad, när. Pedagogisk mall = vår. Inte TS-produkt.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 TS-blankett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Finns inte att hämta. Utan myndighetsblankett finns ändå intyg — vårt papper. Inte ELSÄK-auktorisation som enda bevis (pek 1.1).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Snurrar ≠ intyg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Funktion är inte papper. Kåpa + märkning + intyg = klart.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Papperövningen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9601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Foto öppen kåpa vs stängd. Tom pedagogisk intygsmall. En rad: IP-tabell = URL, inte klistra.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286000"/>
            <a:ext cx="113385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286000"/>
            <a:ext cx="45720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2359152"/>
            <a:ext cx="1051560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kryssa stängd kåpa; fyll intyg till befälhavaren; en mening ingen TS-blankett; en mening inte öppna 440.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840480"/>
            <a:ext cx="113385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840480"/>
            <a:ext cx="64008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913632"/>
            <a:ext cx="1033272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varför packning mot stöt/fukt, utan tabell.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Genomgånget fel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Uttag bytt i inredning. Ingenjör: “det snurrar, klart.” Kåpa lös. Elektriker letar TS-blankett, hittar ingen, hoppar papper.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Rätt kedja: isolation (pek 2.1) → arbete i *befintlig* grupp → kåpa/packning → märkning → intyg till befälhavaren, vår mall → inte 440.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live 440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öppna 440 för att “göra jobbet”. Varv: död tavla / 24 V om de har. Inte lås 230. Inte live-wiring.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Quiz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07008"/>
            <a:ext cx="11338560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Fyra saker: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16002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104" y="16002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 TS-blankett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21386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9104" y="21386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Snurrar ≠ intyg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26771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104" y="26771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Kåpa tillbaka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32156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104" y="32156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live 440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Gör quizzen i Classroom den här veckan.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5772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430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 11.1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Felsökning (m12). Skriftligt prov. Hållkrets omberättad. SOLAS-intyg som skall. IEC/IP-tabell. 80005.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LIA: samma kåpa + intyg under handledning, värd kan kvittera övningstavla återställd.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12.1 Risk, strukturerad felsökning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Elteknik och ellära · vecka 9b · distans Papper med ställning. Inte PE-jakt. Inte DMM på MSB. Inte live 440.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Figur 12.1</a:t>
            </a:r>
          </a:p>
        </p:txBody>
      </p:sp>
      <p:pic>
        <p:nvPicPr>
          <p:cNvPr id="22" name="Picture 21" descr="figur-12-1-felsok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863840" cy="442108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12480" y="1234440"/>
            <a:ext cx="3337560" cy="47548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Sjustegskedja. Inte PE-jakt, inte live 440, inte DMM på MSB. VG skriver kedjan själv.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Efter den här veckan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104" y="12344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Hitta felet *med ställning* på papper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77292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104" y="177292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G: följ given kedja, peka rätt fel, skriv “inte 440, inte MSB”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3114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104" y="23114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VG: skriv kedjan själv + motivera åtgärden mot risk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 spår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28016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Elektriker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PE-jakt.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444751"/>
            <a:ext cx="512064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Ingenjör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847088"/>
            <a:ext cx="5120640" cy="32004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Metod innan handen.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Skall, en mening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Felsök så att du inte gör stöt eller kort av sökandet. Isolation först. Ritning innan luckan. Rätt instrument. Inte live huvudtavla. Inte gissa.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TSFS 2017:26 5 kap. 5 §. Parafras. Klistra inte lagtext. 2 kap. 6 § fackmässigt. Dokumentation så felsökning är möjlig = pek 9.1.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den här veckan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904" y="123444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Skriftligt prov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623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904" y="162356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Omberättad 11.1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012696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904" y="2012696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PE-jakt från villa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40182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904" y="2401824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Live 440, DMM på MSB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279095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904" y="2790952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Lås 230, ny labbdag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" y="318008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904" y="318008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Arduino, IEC-felträd, 80005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Ställningen (G får den given)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23444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904" y="123444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Symptom i en mening. Inte peka prober än.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1623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904" y="162356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Namnge spänningstyp. 440 = look-not-touch.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012696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904" y="2012696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Isolation / död-koll om du ska in.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40182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904" y="2401824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Ritning: styr eller last.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279095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904" y="2790952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Instrument: tvåpol, DMM på tränare — inte MSB, inte megger live.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" y="318008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904" y="318008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Ett test. Inte tre gissningar.</a:t>
            </a:r>
          </a:p>
        </p:txBody>
      </p:sp>
      <p:sp>
        <p:nvSpPr>
          <p:cNvPr id="34" name="Oval 33"/>
          <p:cNvSpPr/>
          <p:nvPr/>
        </p:nvSpPr>
        <p:spPr>
          <a:xfrm>
            <a:off x="457200" y="356920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904" y="356920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Åtgärd + papper.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Isolation först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Hoppa steg 3 = IG. Prober först = IG.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PE-jakt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PE är inte felsöknyckeln ombord. Inte JFB som bevis. Inte fas–skrov som nolla.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DMM på MSB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motorfel från spänningssatt huvudtavla. Fel ställe. Live tavla.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live 440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Look-not-touch. Ett test på död/ELV-sida. 24 V-styr skilt från 440-last.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Metod innan handen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“Den gick ju” / “jag kan den” är inte kedja. Ett test, inte tre gissningar.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Papperövningen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9601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Symptomkort “startar inte”. Enlinje 24 V-styr + 440-motor look-not-touch. Kretsschema med *ett* lagt fel (öppen håll eller lös 24 V — inte villa-PE).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286000"/>
            <a:ext cx="113385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286000"/>
            <a:ext cx="45720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2359152"/>
            <a:ext cx="1051560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följ numrerad ställning, peka rätt fel, skriv “inte 440, inte MSB”.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840480"/>
            <a:ext cx="113385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840480"/>
            <a:ext cx="64008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913632"/>
            <a:ext cx="1033272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skriv kedjan själv + motivera åtgärden (varför inte PE-jakt, varför isolation).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Genomgånget fel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“Pumpen startar inte.” Elektriker jagar PE på 440-tavlan. Ingenjör: “den gick i går,” prober live.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Rätt kedja: symptom → 24 V-styr eller 440-last på papper → isolation → schema → ett test på död/ELV → inte MSB → inte fas–skrov.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Varvet, inte lås 230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9601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Lab I: död tavla eller 24 V om de har. Ett lagt fel. Inte live-wiring. Inte 440-mätning. Inte DMM på MSB.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286000"/>
            <a:ext cx="113385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286000"/>
            <a:ext cx="45720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2359152"/>
            <a:ext cx="1051560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hittar felet med ställning.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840480"/>
            <a:ext cx="1133856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840480"/>
            <a:ext cx="640080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913632"/>
            <a:ext cx="10332720" cy="12618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själv + riskmening. IG: prober först.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Quiz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07008"/>
            <a:ext cx="11338560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Fyra saker: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16002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104" y="16002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PE-jakt ombord? Nej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21386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9104" y="21386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DMM på MSB för motorfel? Nej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26771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104" y="26771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Isolation först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32156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104" y="32156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live 440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Gör quizzen i Classroom den här veckan.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7688" y="182118"/>
            <a:ext cx="532384" cy="242569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1126" y="6509766"/>
            <a:ext cx="461772" cy="21336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 12.1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234440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Skriftligt prov (eget blad, inte nu). 11.1 omberättad. Germanica. Nöd/EX/land. Arduino. Villa-PE. IEC-felträd. Lås 230.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807208"/>
            <a:ext cx="11338560" cy="1463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LIA: samma ställning under handledning, ett test, inte tre gissningar.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Skriftligt prov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123444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904" y="123444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Efter 12.1. Ett prov, båda spåren. Distans i Classroom.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623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904" y="1623568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Betyg IG / G / VG. Alla gör samma blad. Frågor märkta VG krävs för VG.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2012696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904" y="2012696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Tillåtet: miniräknare och linjal. Inte lektionsblad öppna om läraren inte sagt det.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40182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904" y="2401824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Ladda ner elevbladet. Skriv namn och spår. Svara kort. Rita där det står rita.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279095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904" y="2790952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Facit laddas inte upp i uppgiften elever ser. Bara elevbladet.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3180080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904" y="3180080"/>
            <a:ext cx="10607040" cy="48056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Arduino. Inte ny labbdag. Inte TS-blankett att lämna in. Inte 12.1 omberättad här.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Tre delar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261872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1261872"/>
            <a:ext cx="3657600" cy="42062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0" bIns="0"/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Del A  ·  G-golv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" y="1783080"/>
            <a:ext cx="3401568" cy="42062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DC serie/parallell. Enfas rms. Trefasbegrepp. Eltavla. Hållkrets. Stöt och isolation. SMS. Ritning. Skall mot vägledning. Intyg till befälhavaren.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1261872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1261872"/>
            <a:ext cx="3657600" cy="42062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0" bIns="0"/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Del B  ·  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9976" y="1783080"/>
            <a:ext cx="3401568" cy="42062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Görs av alla, krävs för VG. Samband i kretsar. Motivera skyddsåtgärd från risk. Tolka schema — var börjar du, varför inte live MSB.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2440" y="1261872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1261872"/>
            <a:ext cx="3657600" cy="42062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0" bIns="0"/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Del C  ·  fällor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1783080"/>
            <a:ext cx="3401568" cy="42062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11111"/>
                </a:solidFill>
                <a:latin typeface="IBM Plex Sans"/>
                <a:ea typeface="IBM Plex Sans"/>
              </a:rPr>
              <a:t>Korta kryss. G: rätt kryss. Typfel som 1 MΩ som lag, TS-blankett, JFB ombord, tång som volt, DC-läge på AC.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Del A — vad som ligger på G-golvet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261872"/>
            <a:ext cx="2926080" cy="384048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" y="1280160"/>
            <a:ext cx="2834640" cy="3474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1261872"/>
            <a:ext cx="8412480" cy="384048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92424" y="1280160"/>
            <a:ext cx="8321040" cy="34747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Uppgift (elevbladet)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1645919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" y="1664207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1645919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92424" y="1664207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DC, serie/parallell — två 12 Ω, 24 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098963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" y="2117251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098963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92424" y="2117251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Enfas AC, resistiv — 230 V rms, last 230 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552007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" y="2570295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552007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92424" y="2570295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Trefas och spänningstyper — de tre låsta begreppen, linje vs fas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005050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" y="3023338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37560" y="3005050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92424" y="3023338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Eltavla — huvud vs grupp; DMM på spänningssatt MSB?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458094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" y="3476382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37560" y="3458094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92424" y="3476382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Hållkrets — start NO, stopp NC, håll parallellt med start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911138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" y="3929426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911138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92424" y="3929426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Stöt och isolation — varför innan arbete; står motorn = död?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364181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6344" y="4382469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4364181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92424" y="4382469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SMS — rederiets rutiner eller TS-blankett utantill?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817225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6344" y="4835513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37560" y="4817225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92424" y="4835513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Ritning och mått — enlinje vs krets; gissa med live?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5270269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6344" y="5288557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5270269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92424" y="5288557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Skall vs vägledning — 5 kap. 1–7 § mot »Så här görs kontroll«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5723312"/>
            <a:ext cx="29260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6344" y="5741600"/>
            <a:ext cx="28346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A10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37560" y="5723312"/>
            <a:ext cx="8412480" cy="4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92424" y="5741600"/>
            <a:ext cx="8321040" cy="416467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Intyg — till vem, regelverk + standard, finns TS-blankett?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2430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82880"/>
            <a:ext cx="240030" cy="24003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662" y="182880"/>
            <a:ext cx="1234440" cy="24003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4822" y="201168"/>
            <a:ext cx="494284" cy="204469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258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26738" y="201168"/>
            <a:ext cx="494284" cy="204469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4174" y="182880"/>
            <a:ext cx="14173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Felsökning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40080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16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Elarbete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70176" y="6528816"/>
            <a:ext cx="423672" cy="175260"/>
          </a:xfrm>
          <a:prstGeom prst="rect">
            <a:avLst/>
          </a:prstGeom>
          <a:solidFill>
            <a:srgbClr val="5A2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6528816"/>
            <a:ext cx="12344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Felsökning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528816"/>
            <a:ext cx="205740" cy="205740"/>
          </a:xfrm>
          <a:prstGeom prst="rect">
            <a:avLst/>
          </a:prstGeom>
          <a:solidFill>
            <a:srgbClr val="2A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4132" y="6528816"/>
            <a:ext cx="137160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28816"/>
            <a:ext cx="1051560" cy="2057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713232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Del B och Del C — elevbladet, inte facit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123444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9104" y="123444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VG1 Samband i parallellkretsen från A1.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177292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104" y="177292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VG2 Risk: kollega »kollar 440« med DMM på huvudtavlan och jagar PE som hemma. Motivera en skyddsåtgärd från risk.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231140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104" y="231140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VG3 Schema: hållkontakten sluter inte. Symptom? 24 V-styr eller 440-last? Varför inte live MSB?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284988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104" y="284988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Del C Kryssa det som är fel att göra eller tro. Flera kan vara fel. Påståenden på elevbladet — rätta inte här.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3388360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104" y="3388360"/>
            <a:ext cx="10607040" cy="44704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>
              <a:spcAft>
                <a:spcPts val="400"/>
              </a:spcAft>
            </a:pPr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Slut. Inga labbfrågor. Inga nöd/EX/landström-frågor. Inget facit på de här slidarna.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teknik v3">
  <a:themeElements>
    <a:clrScheme name="Elteknik v3">
      <a:dk1>
        <a:srgbClr val="111111"/>
      </a:dk1>
      <a:lt1>
        <a:srgbClr val="FFFFFF"/>
      </a:lt1>
      <a:dk2>
        <a:srgbClr val="111111"/>
      </a:dk2>
      <a:lt2>
        <a:srgbClr val="FFFFFF"/>
      </a:lt2>
      <a:accent1>
        <a:srgbClr val="0078C8"/>
      </a:accent1>
      <a:accent2>
        <a:srgbClr val="5A2D27"/>
      </a:accent2>
      <a:accent3>
        <a:srgbClr val="2A3340"/>
      </a:accent3>
      <a:accent4>
        <a:srgbClr val="6B2D5B"/>
      </a:accent4>
      <a:accent5>
        <a:srgbClr val="111111"/>
      </a:accent5>
      <a:accent6>
        <a:srgbClr val="111111"/>
      </a:accent6>
      <a:hlink>
        <a:srgbClr val="111111"/>
      </a:hlink>
      <a:folHlink>
        <a:srgbClr val="111111"/>
      </a:folHlink>
    </a:clrScheme>
    <a:fontScheme name="Office">
      <a:maj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