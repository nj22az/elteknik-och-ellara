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1.1 ligger. Här är kedjan innan handen: från, lås, prova död, megger, protokoll. Inte en ny labbdag.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1.1 ligger. Här är kedjan innan handen: från, lås, prova död, megger, protokoll. Inte en ny labbdag. Inte omberättad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figur 2.1. Låt dem peka. Hitta inte på lagtext. Inte IP-tabell. Inte 80005.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 är papper. Händer-megger är ticket till varvet, inte hemuppgift.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Säg raderna rakt av. Elektrikern megger mot PE och litar på JFB. Ingenjören såg att den stannade. Båda är fel kedja.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Klistra inte lagtext. 5 § är skall. Resten av kap. 5 undervisas inte här.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Quizzen sitter på 1 MΩ. Aldrig “lagen kräver 1 MΩ”. Underhållsintervallet är exempel.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IR ≠ megger. Samma siffra på fel tid är fel mätning. Tyst IR säger inget om en grupp den inte ser — peka tillbaka till 1.1, berätta inte om fallet.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Hoppa lås = IG. Megger före tvåpol = IG. Referens ombord är skrov/IT på *avställd* grupp, inte PE hemma.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lista 1–8 finns i studentbladet. Här: det som styr protokollet. Inte intyg till befälhavaren (m11). Inte IP-tabell på sliden.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0,4 MΩ i fotot är den här sliden i övning. 2,4 MΩ är den andra övningssiffran. Båda är märkta övning.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0,4 = inte tillslag + avvikelse. Eleven ska säga vilken bild som är drift och vilken som är före arbete. Ingen megger på den spänningssatta bilden.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 är Labbdag v2, inte ett nytt schema. Händer-megger bara på utsedd död tavla när värden vinkar.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Germanica. Typfel för den här veckan. Rätt kedja är slide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 du megger på driftfotot eller hoppad lås: IG, stoppa tråden.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Rätta mot kedjan, inte mot hur väl de kan rummet. Mata inte VG-orden.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Fyra frågor. Facit i quizbladet, inte på sliden.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Stoppa frågor som vill in i varvsschema eller 1.1-fallet. Peka framåt, gå inte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IBM Plex Sans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IBM Plex Sans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IBM Plex Sans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IBM Plex Sans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IBM Plex Sans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91640"/>
            <a:ext cx="1133856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 spc="72" cap="all">
                <a:solidFill>
                  <a:srgbClr val="111111"/>
                </a:solidFill>
                <a:latin typeface="IBM Plex Sans Medium"/>
                <a:ea typeface="IBM Plex Sans Medium"/>
              </a:rPr>
              <a:t>Elteknik och ellära  ·  45 YH-poäng  ·  Vecka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57400"/>
            <a:ext cx="11338560" cy="6400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 före arbete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743200"/>
            <a:ext cx="384048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880360"/>
            <a:ext cx="1133856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Modul 2  ·  SMS, kedjan innan handen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91840"/>
            <a:ext cx="11338560" cy="73152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Distans. På papper. Megger med händerna = varvsdagen. Inte omberättad Germanica.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297680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5492" y="4297680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564630" y="4260342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4279392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5150" y="4297680"/>
            <a:ext cx="219456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2.1 Isolering före arbete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Elteknik och ellära · vecka 2 · distans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På papper. Megger med händerna = varvsdagen.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-2-1-isolering-kedja-sk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6400800" cy="5440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83879" y="777240"/>
            <a:ext cx="3657600" cy="29260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 spc="72" cap="all">
                <a:solidFill>
                  <a:srgbClr val="111111"/>
                </a:solidFill>
                <a:latin typeface="IBM Plex Sans SemiBold"/>
                <a:ea typeface="IBM Plex Sans SemiBold"/>
              </a:rPr>
              <a:t>Legend</a:t>
            </a:r>
          </a:p>
        </p:txBody>
      </p:sp>
      <p:sp>
        <p:nvSpPr>
          <p:cNvPr id="10" name="Oval 9"/>
          <p:cNvSpPr/>
          <p:nvPr/>
        </p:nvSpPr>
        <p:spPr>
          <a:xfrm>
            <a:off x="8183879" y="1115568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4719" y="1115568"/>
            <a:ext cx="324612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FRÅN</a:t>
            </a:r>
          </a:p>
        </p:txBody>
      </p:sp>
      <p:sp>
        <p:nvSpPr>
          <p:cNvPr id="12" name="Oval 11"/>
          <p:cNvSpPr/>
          <p:nvPr/>
        </p:nvSpPr>
        <p:spPr>
          <a:xfrm>
            <a:off x="8183879" y="1828800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4719" y="1828800"/>
            <a:ext cx="324612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LÅS/SKYLT</a:t>
            </a:r>
          </a:p>
        </p:txBody>
      </p:sp>
      <p:sp>
        <p:nvSpPr>
          <p:cNvPr id="14" name="Oval 13"/>
          <p:cNvSpPr/>
          <p:nvPr/>
        </p:nvSpPr>
        <p:spPr>
          <a:xfrm>
            <a:off x="8183879" y="2542032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4719" y="2542032"/>
            <a:ext cx="324612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PROVA DÖD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3255264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4719" y="3255264"/>
            <a:ext cx="324612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MEGGER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Efter den här veckan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389888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Ordna SMS-kedjan innan arbete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01952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810512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Skilja IR *under drift* från megger *på avställd* grupp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22576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231136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Behandla 1 MΩ som upplysning, inte lag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651760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Fylla protokoll från given bild och siffra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63824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072384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VG: motivera stegen; vad om varvet saknar megger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Två spår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89888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89888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512064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Elektriker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29967"/>
            <a:ext cx="5120640" cy="31089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Referens är inte PE-skenan hemma.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512064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Ingenjör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7"/>
            <a:ext cx="5120640" cy="31089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Tyst maskin är inte bevisad spänningslöshet.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Skall, en mening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11338560" cy="6400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El ombord ska vara gjord så att risken för stöt, brand och kortslutning blir så liten som det går. Innan du tar i en grupp: gör den död, *visa* att den är död, mät isolation, skriv det.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21408"/>
            <a:ext cx="11338560" cy="6400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TSFS 2017:26 5 kap. 5 §. Parafras. SMS: rutinerna i rederiets organisation (FSL 2 kap. 9–10 §§). Utförande: fackmässigt (2 kap. 6 §). Inte ELSÄK-auktorisation som enda bevis.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Inte skall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89888"/>
            <a:ext cx="11338560" cy="4754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0" bIns="0"/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Påstående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59" y="1389888"/>
            <a:ext cx="3840481" cy="47548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0" bIns="0"/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Nivå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865376"/>
            <a:ext cx="11338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865376"/>
            <a:ext cx="7498079" cy="47548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Isolationsprov (instrument ombord / fackman megger + protokoll)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59" y="1865376"/>
            <a:ext cx="3840481" cy="47548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upplysning, “Så här görs kontroll”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340864"/>
            <a:ext cx="11338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340864"/>
            <a:ext cx="7498079" cy="47548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1 MΩ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2340864"/>
            <a:ext cx="3840481" cy="47548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upplysning. Inte 5 §-skall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816352"/>
            <a:ext cx="11338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816352"/>
            <a:ext cx="7498079" cy="47548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IR-vakt på ojordade kretsar &gt; 50 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59" y="2816352"/>
            <a:ext cx="3840481" cy="47548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allmänna råd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91840"/>
            <a:ext cx="11338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291840"/>
            <a:ext cx="7498079" cy="47548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“t.ex. vart 6:e år”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59" y="3291840"/>
            <a:ext cx="3840481" cy="47548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exempel, inte föreskrift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767328"/>
            <a:ext cx="113385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767328"/>
            <a:ext cx="7498079" cy="47548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Packning tillbaka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59" y="3767328"/>
            <a:ext cx="3840481" cy="47548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avledning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Två mätningar, två tider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Under drift: IR-vakt. Larmar. Tar inte bort spänningen.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65376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Före arbete på avställd grupp: från, lås, skylt, tvåpol död, *sedan* megger. Protokoll.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Kedjan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389888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9103" y="1389888"/>
            <a:ext cx="10470896" cy="3556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Från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1836928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9103" y="1836928"/>
            <a:ext cx="10470896" cy="3556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Lås / skylt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283968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9103" y="2283968"/>
            <a:ext cx="10470896" cy="3556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Tvåpolsprova död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731008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9103" y="2731008"/>
            <a:ext cx="10470896" cy="3556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Megger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178048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9103" y="3178048"/>
            <a:ext cx="10470896" cy="3556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Skriv värde och referens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625088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103" y="3625088"/>
            <a:ext cx="10470896" cy="3556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Under upplysningsgräns → inte spänningssätt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072128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103" y="4072128"/>
            <a:ext cx="10470896" cy="3556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Kåpa tillbaka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SMS den här veckan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389888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Inte räkna med JFB; räkna med IR-vakt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01952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810512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Packning/kåpa tillbaka (avledning, inte TS-rubrik)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22576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231136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Isolationsrutin i underhåll (upplysning; intervall = exempel)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651760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Sidokrets utanför IR (punkten från 1.1, inte omberättad)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63824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072384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Stöt → vård iland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1 MΩ i jobbet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389888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Märk upplysning, inte lag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01952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810512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Givet värde under gräns: inte spänningssätt, skriv avvikelse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22576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231136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Inte “olagligt enligt 5 §”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Fotoövningen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Ticket: “230 V-grupp inredning, kabel bytt. Isolera på papper. Megga inte live.”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65376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Två övningsfoton i Classroom: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40864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IR-instrument *i drift*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16352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Megger på *avställd* grupp: 2,4 MΩ och 0,4 MΩ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Om varvet saknar megger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11338560" cy="6400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VG-mening: tvåpolsprova död + flagga gapet. Inte hitta på en andra tavla. Inte live. Inte 440 V.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Genomgånget fel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11338560" cy="6400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230 V-grupp belysning inredning. Ingenjör: “den är av, jag såg brytaren.” Elektriker: megger mot PE som hemma, “bra” 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21408"/>
            <a:ext cx="11338560" cy="6400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Saknas: lås/skylt, tvåpol mot stomme/skrov, megger på den *avställda* gruppen mot rätt referens, protokoll.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Stopp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89888"/>
            <a:ext cx="1133856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389888"/>
            <a:ext cx="11338560" cy="32918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/>
          <a:lstStyle/>
          <a:p>
            <a:pPr algn="l"/>
            <a:r>
              <a:rPr sz="1200" b="0" i="0" dirty="0" spc="9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FARA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938528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1847088"/>
            <a:ext cx="1066190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Ingen megger på spänningssatt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359152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267712"/>
            <a:ext cx="1066190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Ingen lucka utan lås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79776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2688336"/>
            <a:ext cx="1066190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Ingen “jag kan anläggningen”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200400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108960"/>
            <a:ext cx="1066190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Ingen händer-megger som läxa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Hemuppgift: protokoll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Namn, grupp, kedja, given siffra, referens, 1 MΩ upplysning ja, en SMS-punkt.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4028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24028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04872"/>
            <a:ext cx="512064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5120640" cy="31089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kedja + IR vs megger + 0,4 inte tillslag + en SMS-punkt.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04872"/>
            <a:ext cx="512064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80360"/>
            <a:ext cx="5120640" cy="31089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motivera varje steg mot risk; gap om megger saknas.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 saker: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84248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892807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1 MΩ är upplysning, inte lag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04872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13432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IR ≠ megger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25496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734056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0,4 MΩ = inte spänningssätt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074920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Gör quizzen i Classroom den här veckan.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Isolering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Inte i 2.1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11338560" cy="6400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Stötväg som 1.1-lektion. Nöd, EX, land, blackout. 230 mot 24 V (väntar på varvet). Hållkrets. Losskoppling som eget pass. Intyg som TS-produkt. Arduino.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840480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LIA: isolation enligt fartygets SMS, under handledning.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F3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Isolering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6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teknik v3">
  <a:themeElements>
    <a:clrScheme name="Elteknik v3">
      <a:dk1>
        <a:srgbClr val="111111"/>
      </a:dk1>
      <a:lt1>
        <a:srgbClr val="FFFFFF"/>
      </a:lt1>
      <a:dk2>
        <a:srgbClr val="111111"/>
      </a:dk2>
      <a:lt2>
        <a:srgbClr val="FFFFFF"/>
      </a:lt2>
      <a:accent1>
        <a:srgbClr val="F39700"/>
      </a:accent1>
      <a:accent2>
        <a:srgbClr val="6B2D5B"/>
      </a:accent2>
      <a:accent3>
        <a:srgbClr val="111111"/>
      </a:accent3>
      <a:accent4>
        <a:srgbClr val="111111"/>
      </a:accent4>
      <a:accent5>
        <a:srgbClr val="111111"/>
      </a:accent5>
      <a:accent6>
        <a:srgbClr val="111111"/>
      </a:accent6>
      <a:hlink>
        <a:srgbClr val="111111"/>
      </a:hlink>
      <a:folHlink>
        <a:srgbClr val="111111"/>
      </a:folHlink>
    </a:clrScheme>
    <a:fontScheme name="Office">
      <a:majorFont>
        <a:latin typeface="IBM Plex Sans"/>
        <a:ea typeface="IBM Plex Sans"/>
        <a:cs typeface="IBM Plex Sans"/>
        <a:font script="Jpan" typeface="IBM Plex Sans"/>
        <a:font script="Hang" typeface="IBM Plex Sans"/>
        <a:font script="Hans" typeface="IBM Plex Sans"/>
        <a:font script="Hant" typeface="IBM Plex San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IBM Plex Sans"/>
        <a:cs typeface="IBM Plex Sans"/>
        <a:font script="Jpan" typeface="IBM Plex Sans"/>
        <a:font script="Hang" typeface="IBM Plex Sans"/>
        <a:font script="Hans" typeface="IBM Plex Sans"/>
        <a:font script="Hant" typeface="IBM Plex San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