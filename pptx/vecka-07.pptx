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Två lektioner samma vecka. Inte blanda in hållkrets. Inte öppna 440-lucka. Verktyg är val på papper, händer på varvet.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m8 verktyg. Inte nödtavla som nödlabb. Inte landanslutningscentral. Titta, namnge, stanna.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7.1.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papper/foto. Isolation 2.1 på den döda tavlan.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öppnar mot N/PE. Ingenjören står i tavlarummet. Båda är fel kedja.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Allmänna råd till 5 § (huvudbrytare, skydd, märkning) är *bör*, inte skall. Säg det om någon frågar, inte som 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Pek 5.1 och 6.1, berätta inte om 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Kursbegrepp, inte TSFS-definition.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Upplysning: grupper/säkringar märkta (märkström, area, förbrukare) = vägledning, inte skall. Parafras, ingen sidavskrift.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Labbdag v2. Elektrikerhålet.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Ingenjörshålet. Stående anläggning ≠ död tavla (2.1).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VG-meningen.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händer. Inte öppna luckan på fotot.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Typfel, inte Germanica. Central är inte arbetsbänk.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Märk nivån. Inte IP-matris.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IG och stoppa tråden. På varvet: LOTO på den tavla värden ställt av.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Facit i quizbladet.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m8- och 80005-frågor.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Efter 7.1 samma vecka. Inte tavllära omberättad. Välj instrument på papper. Händer = varv.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8.1.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strecken på papper. Megger med händerna = varv, om de har; annars tvåpol + gap (2.1/v2).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tar DMM mot PE. Ingenjören har “en mätare”. Båda är fel kedja.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Fackmässigt 2 kap. 6 §. Isolation = 2.1. DC-område = 3.1. AC-läge = 4.1. Tavla = pek 7.1, inte omberättat.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MΩ är upplysning i 2.1, inte nytt skall här.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är hela G. Inte = nästa tre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Elektrikerhålet. 2.1-kedjan, inte omberättad isolationföreläsning.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Pek 7.1: övning på död tavla. Inte tavllära.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2.1. Inte nytt 1 MΩ-skall.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IG. Maskinreflexen: en mätare ur fickan.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Pek 7.1 utan omberättelse.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händer. Inte ny labbdag.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Typfel, inte Germanica.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Kompetens: ansvar för verktyg och metoder.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Facit i quizbladet.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80005- och 7.1-omtag.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IBM Plex Sans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IBM Plex Sans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IBM Plex Sans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IBM Plex Sans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IBM Plex Sans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1554480"/>
            <a:ext cx="11338560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 spc="72" cap="all">
                <a:solidFill>
                  <a:srgbClr val="111111"/>
                </a:solidFill>
                <a:latin typeface="IBM Plex Sans Medium"/>
                <a:ea typeface="IBM Plex Sans Medium"/>
              </a:rPr>
              <a:t>ELTEKNIK OCH ELLÄRA  ·  45 YH-POÄNG  ·  VECKA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965960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 och verktyg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651760"/>
            <a:ext cx="3840480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Modul 7 + modul 8  ·  samma kalendervecka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200400"/>
            <a:ext cx="11338560" cy="10058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Distans. Först tavlan, sedan instrumentvalet. Inte 80005. Inte live MSB.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663440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304" y="4663440"/>
            <a:ext cx="164592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09671" y="4663440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6495" y="4663440"/>
            <a:ext cx="164592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7.1 Eltavla / elcentral ombord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Elteknik och ellära · vecka 7 · distans Tre foton. Inte DMM på MSB. Inte öppna 440-lucka.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Figur 7.1</a:t>
            </a:r>
          </a:p>
        </p:txBody>
      </p:sp>
      <p:pic>
        <p:nvPicPr>
          <p:cNvPr id="22" name="Picture 21" descr="figur-7-1-eltav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863840" cy="442108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12480" y="1234440"/>
            <a:ext cx="3337560" cy="47548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Tre tavlor: MSB stängd, grupptavla märkt, övningstavla låst. Övning = den döda tavlan.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Efter den här veckan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2344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104" y="12344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Namnge huvudtavla vs grupptavla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177292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104" y="177292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440 = look-not-touch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3114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104" y="23114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Övning = död låsbar tavla, inte live MSB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28498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104" y="28498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VG: varför inte felsöka från spänningssatt MSB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Två spår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128016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28016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1444751"/>
            <a:ext cx="512064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Elektriker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1847088"/>
            <a:ext cx="5120640" cy="32004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Det här är inte din landcentral.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1444751"/>
            <a:ext cx="512064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Ingenjör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847088"/>
            <a:ext cx="5120640" cy="32004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Rummet är inte tillstånd.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Skall, en mening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Känn igen vilken tavla du står vid. Spänningssatt huvudtavla är inte övningsplats. 440 V-lucka öppnar du inte utan värdtillstånd. Grupper ska kunna kännas igen.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TSFS 2017:26 5 kap. 5 §. Parafras. Klistra inte lagtext.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den här veckan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23444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904" y="123444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m8 verktyg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162356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904" y="1623568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DMM på live MSB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012696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904" y="2012696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440-lucka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2401824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904" y="2401824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IEC/IP-tabell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2790952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904" y="2790952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Landström, 80005</a:t>
            </a:r>
          </a:p>
        </p:txBody>
      </p:sp>
      <p:sp>
        <p:nvSpPr>
          <p:cNvPr id="32" name="Oval 31"/>
          <p:cNvSpPr/>
          <p:nvPr/>
        </p:nvSpPr>
        <p:spPr>
          <a:xfrm>
            <a:off x="457200" y="318008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904" y="318008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Nödtavla som nödlabb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Huvudtavla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MSB: inkommande, fördelning. Den du inte megar på live. Både 230 och 400/440 kan sitta här — läs skylt (5.1), öppna inte 440.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Grupptavla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Utgående grupper, märkta. Avläs grupp/förbrukare på foto, inte med prober på live skena.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440 look-not-touch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Lucka stängd. Värden äger den. Inte landcentral. Inte N/PE-skena hemma.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Övning = död tavla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Labbplatsen är den utsedda, låsbara tavlan varvet ställt av. Inte live MSB. Inte “jag kan rummet”.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live MSB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Felsök inte från spänningssatt huvudtavla. Fel ställe. 5 §. Pek 6.1 utan omberättelse: inte hitta motorn där.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Fotoövningen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96012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Tre foton: MSB stängd; grupptavla med märkning; övningstavla lås/skylt “död”.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286000"/>
            <a:ext cx="113385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286000"/>
            <a:ext cx="45720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2359152"/>
            <a:ext cx="1051560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huvud vs grupp; 440 look-not-touch; övningsfotot är labbplatsen; en avläst märkning.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840480"/>
            <a:ext cx="113385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840480"/>
            <a:ext cx="64008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913632"/>
            <a:ext cx="1033272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varför inte felsöka från spänningssatt MSB.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Genomgånget fel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Grupp har löst. Elektriker öppnar 440-MSB “som hemma”. Ingenjör mäter live “jag kan tavlan”.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Rätt kedja: namnge huvud vs grupp → 440 look-not-touch → övning bara på utsedd död tavla → märkning på foto.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Vägledning, inte lag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21945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Upplysning (parafras, klistra inte sidan): inga oskyddade spänningsförande delar &gt; 50 V på framsida; tillträde fram och bak utan fara; skylt med högsta spänning på dörr bakom tavla. Avståndssiffror bakom tavla är upplysning, inte 5 §-skall.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Stopp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2344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104" y="12344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Öppna 440-lucka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177292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104" y="177292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Live mätning / DMM på MSB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3114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104" y="23114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“Tavlan är rummet”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28498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104" y="28498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80005, IEC-tabell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338836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9104" y="338836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m8 i den här uppgiften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Quiz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07008"/>
            <a:ext cx="11338560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Fyra saker: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16002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104" y="16002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Huvud vs grupp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21386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9104" y="21386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live MSB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267716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104" y="267716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440 look-not-touch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" y="32156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104" y="32156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Övning = död tavla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85876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Gör quizzen i Classroom den här veckan.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i 7.1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m8 verktyg. Nödtavla som nödlabb. Landanslutningscentral. IP-matris. Live trefasmätning. 6.1 plint omberättad.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LIA: peka rätt tavla under handledning, MSB-luckan stängd.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8.1 Verktyg och mätinstrument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Elteknik och ellära · vecka 7b · distans Tre instrument, tre jobb. Inte tång som volt. Inte megger live. Inte DMM på MSB.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Figur 8.1</a:t>
            </a:r>
          </a:p>
        </p:txBody>
      </p:sp>
      <p:pic>
        <p:nvPicPr>
          <p:cNvPr id="22" name="Picture 21" descr="figur-8-1-verkty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863840" cy="442108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12480" y="1234440"/>
            <a:ext cx="3337560" cy="47548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Tre instrument, tre jobb. Inte tång som volt. Inte megger live. Inte DMM på MSB.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Efter den här veckan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2344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104" y="12344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Namnge DMM, tvåpol, megger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177292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104" y="177292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Matcha jobb → instrument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3114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104" y="23114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VG: fel instrument = 5 §-risk (kort, falskt “av”, stöt)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Två spår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128016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28016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1444751"/>
            <a:ext cx="512064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Elektriker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1847088"/>
            <a:ext cx="5120640" cy="32004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Tvåpol mot skrov, inte bara PE.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1444751"/>
            <a:ext cx="512064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Ingenjör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847088"/>
            <a:ext cx="5120640" cy="32004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Namnge instrumentet innan du mäter.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Skall, en mening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Välj instrument så mätningen inte blir stöt eller kort. Tvåpol för att visa död. DMM för värde på avsedd tränare. Megger bara på avställd grupp. Inte live MSB.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TSFS 2017:26 5 kap. 5 §. Parafras. Klistra inte lagtext.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den här veckan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2344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104" y="12344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Omberättad 7.1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177292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104" y="177292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Ohm-räkning, rms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3114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104" y="23114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Kalibreringsårtal (GAP, inte hitta på)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28498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104" y="28498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80005, IEC-instrumenttabell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338836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9104" y="338836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Hållkrets, Arduino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Tre jobb, tre verktyg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1261872"/>
            <a:ext cx="2926080" cy="384048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" y="1280160"/>
            <a:ext cx="2834640" cy="3474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Jobb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1261872"/>
            <a:ext cx="8412480" cy="384048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92424" y="1280160"/>
            <a:ext cx="8321040" cy="3474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Instrument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1645919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" y="1664207"/>
            <a:ext cx="2834640" cy="53035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Är gruppen död?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1645919"/>
            <a:ext cx="84124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92424" y="1664207"/>
            <a:ext cx="8321040" cy="53035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Tvåpol mot stomme/skrov efter från/lås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212848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344" y="2231136"/>
            <a:ext cx="2834640" cy="53035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U/I/R på ELV?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7560" y="2212848"/>
            <a:ext cx="84124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92424" y="2231136"/>
            <a:ext cx="8321040" cy="53035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DMM, rätt område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277977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" y="2798064"/>
            <a:ext cx="2834640" cy="53035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Isolation på avställd grupp?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37560" y="2779776"/>
            <a:ext cx="84124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2424" y="2798064"/>
            <a:ext cx="8321040" cy="53035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Megger + protokoll. Ingen megger: tvåpol + gap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Tvåpol = död-koll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Efter från och lås. Mot stomme/skrov, inte bara PE. Inte DMM “nån volt”. Inte tång.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DMM = värde på tränare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Rätt område, polaritet, AC-läge (3.1/4.1). Inte megger. Inte tång som volt. Inte live MSB.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Megger inte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Bara avställd grupp efter LOTO. Protokoll. Finns ingen megger på varvet: tvåpol + gapflagga. Inte mot PE som hemma utan tvåpol först.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Tång ≠ volt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Tång kring *en* ledare för ström. Inte runt knippet som voltmeter. Inte “det är av”.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DMM på MSB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440-prober. Inte live huvudtavla. Värden äger MSB och 440.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Fotoövningen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96012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Tre foton: DMM, tvåpol, megger. Tre jobbkort.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286000"/>
            <a:ext cx="113385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286000"/>
            <a:ext cx="45720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2359152"/>
            <a:ext cx="1051560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streck jobb → instrument × tre. En mening: megger inte på spänningssatt.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840480"/>
            <a:ext cx="113385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840480"/>
            <a:ext cx="64008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913632"/>
            <a:ext cx="1033272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en 5 §-riskmening per felval (tång som volt; megger live; DMM på MSB).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Genomgånget fel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Ingenjör: tång runt två ledare, läser volt, “det är av”. Elektriker: megger mot PE på grupp som inte är låst.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Rätt kedja: vilket jobb → tvåpol efter LOTO om död-koll → DMM på tränare för värde → megger bara avställd → aldrig live MSB.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Ansvar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Trasig säkring i DMM, sliten sladd, fel område = ditt val. Inte “mätaren ljög” som ursäkt för 5 §.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Quiz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07008"/>
            <a:ext cx="11338560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Fyra saker: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16002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104" y="16002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Tång ≠ volt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21386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9104" y="21386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Megger inte live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267716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104" y="267716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DMM inte på MSB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" y="32156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104" y="32156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Tvåpol = död-koll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85876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Gör quizzen i Classroom den här veckan.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Eltavla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Verktyg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8F7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Eltavla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Verktyg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0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i 8.1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Tavllära (7.1). Isolationkedja omberättad. Ohm. rms. Hållkrets. Kalibreringsårtal. IEC-katalog.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LIA: välj rätt låda under handledning. Tvåpol på död tavla, DMM på tränare, megger om de har.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teknik v3">
  <a:themeElements>
    <a:clrScheme name="Elteknik v3">
      <a:dk1>
        <a:srgbClr val="111111"/>
      </a:dk1>
      <a:lt1>
        <a:srgbClr val="FFFFFF"/>
      </a:lt1>
      <a:dk2>
        <a:srgbClr val="111111"/>
      </a:dk2>
      <a:lt2>
        <a:srgbClr val="FFFFFF"/>
      </a:lt2>
      <a:accent1>
        <a:srgbClr val="8F76D6"/>
      </a:accent1>
      <a:accent2>
        <a:srgbClr val="00ADA9"/>
      </a:accent2>
      <a:accent3>
        <a:srgbClr val="0E4A4A"/>
      </a:accent3>
      <a:accent4>
        <a:srgbClr val="6B2D5B"/>
      </a:accent4>
      <a:accent5>
        <a:srgbClr val="111111"/>
      </a:accent5>
      <a:accent6>
        <a:srgbClr val="111111"/>
      </a:accent6>
      <a:hlink>
        <a:srgbClr val="111111"/>
      </a:hlink>
      <a:folHlink>
        <a:srgbClr val="111111"/>
      </a:folHlink>
    </a:clrScheme>
    <a:fontScheme name="Office">
      <a:maj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