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Välkommen. Det här är hela kursen på en karta — inte en lektion. Säg 45 poäng, nio veckor, tolv moduler. Inte ETO. Inte full fartygselektriker-övergång.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siffrorna rakt av. 1 p är ungefär 8 timmar, ish. Labben är en dag, inte en vecka. LIA är fördjupning, inte den här kursens betygskärna ensam.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Peka på vecka 7–9: två moduler samma kalendervecka. Labben ligger efter vecka 8, inte inuti en distansvecka. Prov i vecka 9 efter 12.1. Ingen nöd- eller 80005-vecka.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Ett hem per lärandemål. Ingen parallell m3∥m4-bana. Samma kö. Inte Arduino i någon modul.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m11 bär intyg till befälhavaren, ingen TS-blankett. m12 är VG-spåret men G finns: följ given kedja. Poängen summerar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Inte två kartor. Inte SS 436 40 00 som kurskärna — bara box i m1/m2/m5. Ingen EX-modul, ingen ETO-jämförelse som egen vecka.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 är inte 'lite svagt G'. Hoppad lås, prober först, DMM på MSB — stoppa tråden. VG är inte fler sidor, det är själv + varför mot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varv, inte skola. JFB i verkstaden är land/skola, inte fartygets IT. Labben ersätter inte LIA. Spegla labbdag v2, hitta inte på 440-vandring.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v2 mot kursplanen. v1-resterna nöd, EX, 80005, EMC-modul, batterimodul är ute. 1 MΩ får tränas som upplysning, aldrig som 'lagen kräver'. Klistra inte IP-celler.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Prov: Del A G-golv, Del B VG märkt, Del C fällor. Miniräknare och linjal. Inte Arduino, inte TS-blankett att lämna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mening: 5 kap. 1–7 § är skall, kontrollsidan är inte skall, 1 MΩ är upplysning. Stoppa den som vill ha lagtext på väggen.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Läs URL:en högt. Placeholder om sajten flyttar: samma sökväg. Lösenord till gate nämns inte på sliden — det är en courtesy gate, repot är publikt.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Stanna. Gå inte in i m2. Germanica bara i vecka 1, där lektionen är låst mot STENA GERMANICA / SHK 2024:04.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elteknik-och-ellara/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4D3A"/>
                </a:solidFill>
                <a:latin typeface="Calibri"/>
              </a:rPr>
              <a:t>YRKESHÖGSKOLA  ·  45 POÄNG  ·  9 VECKOR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74519"/>
            <a:ext cx="10607040" cy="1371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4400" b="1" i="0">
                <a:solidFill>
                  <a:srgbClr val="1D1D1F"/>
                </a:solidFill>
                <a:latin typeface="Calibri"/>
              </a:rPr>
              <a:t>Elteknik och ellära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6E6E73"/>
                </a:solidFill>
                <a:latin typeface="Calibri"/>
              </a:rPr>
              <a:t>Fartyg och 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886200"/>
            <a:ext cx="1371600" cy="4572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10972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>Tolv moduler. Distans i Google Classroom. En fysisk labbdag på varv efter vecka 8.
Inte STCW ETO. Betyg IG / G / VG.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Kursen i korthet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2103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4D3A"/>
                </a:solidFill>
                <a:latin typeface="Calibri"/>
              </a:rPr>
              <a:t>45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04872"/>
            <a:ext cx="2103120" cy="10972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400" b="0" i="0">
                <a:solidFill>
                  <a:srgbClr val="1D1D1F"/>
                </a:solidFill>
                <a:latin typeface="Calibri"/>
              </a:rPr>
              <a:t>YH-poäng</a:t>
            </a:r>
          </a:p>
          <a:p>
            <a:r>
              <a:rPr sz="1400" b="0" i="0">
                <a:solidFill>
                  <a:srgbClr val="1D1D1F"/>
                </a:solidFill>
                <a:latin typeface="Calibri"/>
              </a:rPr>
              <a:t>≈ 360 studenttimmar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1353312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27632"/>
            <a:ext cx="2103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4D3A"/>
                </a:solidFill>
                <a:latin typeface="Calibri"/>
              </a:rPr>
              <a:t>9 veckor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404872"/>
            <a:ext cx="2103120" cy="10972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400" b="0" i="0">
                <a:solidFill>
                  <a:srgbClr val="1D1D1F"/>
                </a:solidFill>
                <a:latin typeface="Calibri"/>
              </a:rPr>
              <a:t>Kalender, heltid</a:t>
            </a:r>
          </a:p>
          <a:p>
            <a:r>
              <a:rPr sz="1400" b="0" i="0">
                <a:solidFill>
                  <a:srgbClr val="1D1D1F"/>
                </a:solidFill>
                <a:latin typeface="Calibri"/>
              </a:rPr>
              <a:t>12 moduler i kö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98464" y="1353312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627632"/>
            <a:ext cx="2103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4D3A"/>
                </a:solidFill>
                <a:latin typeface="Calibri"/>
              </a:rPr>
              <a:t>1 labbdag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2404872"/>
            <a:ext cx="2103120" cy="10972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400" b="0" i="0">
                <a:solidFill>
                  <a:srgbClr val="1D1D1F"/>
                </a:solidFill>
                <a:latin typeface="Calibri"/>
              </a:rPr>
              <a:t>Varv efter vecka 8</a:t>
            </a:r>
          </a:p>
          <a:p>
            <a:r>
              <a:rPr sz="1400" b="0" i="0">
                <a:solidFill>
                  <a:srgbClr val="1D1D1F"/>
                </a:solidFill>
                <a:latin typeface="Calibri"/>
              </a:rPr>
              <a:t>inte live-wiring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68512" y="1353312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51392" y="1627632"/>
            <a:ext cx="2103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4D3A"/>
                </a:solidFill>
                <a:latin typeface="Calibri"/>
              </a:rPr>
              <a:t>IG / G / VG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1392" y="2404872"/>
            <a:ext cx="2103120" cy="10972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400" b="0" i="0">
                <a:solidFill>
                  <a:srgbClr val="1D1D1F"/>
                </a:solidFill>
                <a:latin typeface="Calibri"/>
              </a:rPr>
              <a:t>Skriftligt prov</a:t>
            </a:r>
          </a:p>
          <a:p>
            <a:r>
              <a:rPr sz="1400" b="0" i="0">
                <a:solidFill>
                  <a:srgbClr val="1D1D1F"/>
                </a:solidFill>
                <a:latin typeface="Calibri"/>
              </a:rPr>
              <a:t>+ labbar A–J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023360"/>
            <a:ext cx="10875263" cy="21031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Utbildning: Elingenjör, fartyg och automation. Valbar: nej.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Utfall: grundläggande elteknik i industriella och marintekniska miljöer.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Teori huvudsakligen distans. Praktiska moment vid fysisk träff. Fördjupad praktik under LIA.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Samma kö för alla. Spårboxar elektriker / fartygsingenjör — inte två kartor.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Nio veckors kalender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353312"/>
          <a:ext cx="10875260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815"/>
                <a:gridCol w="2718815"/>
                <a:gridCol w="2718815"/>
                <a:gridCol w="2718815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Vecka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Modul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Fokus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m1 · 3 p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Elsäkerhet, stötar, elens verkningar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m2 · 4 p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Isolering, SMS, säkerhetsåtgärder innan arbete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m3 · 5 p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Resistiv DC: mätning och beräkning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m4 · 4 p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Enfas AC: mätning och beräkning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m5 · 4 p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Trefas, system, spänningstyper ombord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m6 · 4 p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DC/AC-utrustning, maskiner, drift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m7 + m8 · 6 p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Eltavla / elcentral + verktyg och instrument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m9 + m10 · 7 p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Ritningar, schema + enklare hållkrets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Efter v8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Labbdag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Varvsverkstad. Inte live-wiring. Inte 440 utan värd.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Fysiskt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m11 + m12 · 8 p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Elarbete, IP, intyg + felsökning + skriftligt prov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Distans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Tolv moduler  ·  1–6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353312"/>
          <a:ext cx="10875260" cy="48463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815"/>
                <a:gridCol w="2718815"/>
                <a:gridCol w="2718815"/>
                <a:gridCol w="2718815"/>
              </a:tblGrid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Nr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Modul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Hem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Elsäkerhet, stötar, elens verkningar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Risk, stötväg, varför isolation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Isolering, SMS, säkerhetsåtgärder innan arbete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Kedja: från, lås, död, megger, protokoll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DC-kretsar: mätning och beräkning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Ohm, serie/parallell, polaritet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Enfas AC: mätning och beräkning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Rms, AC-läge, resistiv I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Trefas, system, spänningstyper ombord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Linje vs fas. 24 / 230 / 400–440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DC/AC-utrustning, maskiner, konstruktion och drift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Skylt, motor/generator, look-not-touch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Tolv moduler  ·  7–12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353312"/>
          <a:ext cx="10875260" cy="48463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815"/>
                <a:gridCol w="2718815"/>
                <a:gridCol w="2718815"/>
                <a:gridCol w="2718815"/>
              </a:tblGrid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Nr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Modul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Hem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Eltavla / elcentral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Huvudtavla vs grupptavla. Död övningstavla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Verktyg och mätinstrument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Tvåpol, DMM, megger — rätt jobb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Ritningar, kopplingsschema, måttsättning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Enlinje vs krets. Inte live för att gissa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Enklare styrkrets / hållkrets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Start, håll, stopp. Papper först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Enklare elarbete, funktionsprovning, enkel IP, intyg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Kåpa tillbaka. Intyg till befälhavaren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233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Risk, strukturerad felsökning (VG-spåret)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Ställning på papper. Inte PE-jakt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Två ingångar, samma kö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5346191" cy="46634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353312"/>
            <a:ext cx="5346191" cy="73152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09344"/>
            <a:ext cx="4980431" cy="6400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 b="1" i="0">
                <a:solidFill>
                  <a:srgbClr val="1F4D3A"/>
                </a:solidFill>
                <a:latin typeface="Calibri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313432"/>
            <a:ext cx="4943855" cy="34747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Tar med sig: DC/AC-räkning, instrument, ritning, hållkrets, losskoppling på land.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Saknar i den här kursen: SMS som fartygsrutin. Isolation mot skrov/IT, inte PE. Att ELSÄK inte är toppnod ombord. Spänningstyper ombord. Intyg till befälhavaren.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Komprimera: m3, m4, m8, m9, m10.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Fördjupa: m1, m2, m5, m11.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439" y="1353312"/>
            <a:ext cx="5346191" cy="46634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439" y="1353312"/>
            <a:ext cx="5346191" cy="73152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8607" y="1609344"/>
            <a:ext cx="4980431" cy="6400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 b="1" i="0">
                <a:solidFill>
                  <a:srgbClr val="1F4D3A"/>
                </a:solidFill>
                <a:latin typeface="Calibri"/>
              </a:rPr>
              <a:t>Fartygsingenjör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607" y="2313432"/>
            <a:ext cx="4943855" cy="34747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Tar med sig: anläggningen, maskiner, tavlor som rum, trefas som drift.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Saknar i den här kursen: megger som arbetsmoment. Dokumenterad isolation innan »vi kan anläggningen«. Resistiv beräkning och mätdisciplin. Ritning och hållkrets med händerna. Losskoppling, intyg, motiverad riskbedömning.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Komprimera: m5-kontext, m6, m7.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Calibri"/>
              </a:rPr>
              <a:t>Fördjupa: m2–m4, m8–m12.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Betyg  ·  IG / G / VG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3503167" cy="310896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313740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D1D1F"/>
                </a:solidFill>
                <a:latin typeface="Calibri"/>
              </a:rPr>
              <a:t>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76272"/>
            <a:ext cx="3100831" cy="20116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500" b="0" i="0">
                <a:solidFill>
                  <a:srgbClr val="1D1D1F"/>
                </a:solidFill>
                <a:latin typeface="Calibri"/>
              </a:rPr>
              <a:t>Säkerhetssteg hoppas. Handen först. Live 440. Megger på spänningssatt. »Jag kan anläggningen.«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4415" y="1353312"/>
            <a:ext cx="3503167" cy="3108960"/>
          </a:xfrm>
          <a:prstGeom prst="roundRect">
            <a:avLst>
              <a:gd name="adj" fmla="val 8000"/>
            </a:avLst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5583" y="1609344"/>
            <a:ext cx="313740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F4D3A"/>
                </a:solidFill>
                <a:latin typeface="Calibri"/>
              </a:rPr>
              <a:t>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5583" y="2176272"/>
            <a:ext cx="3100831" cy="20116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500" b="0" i="0">
                <a:solidFill>
                  <a:srgbClr val="1F4D3A"/>
                </a:solidFill>
                <a:latin typeface="Calibri"/>
              </a:rPr>
              <a:t>Golvet: följer kedjan, mäter, skriver, med handledning. Labbar A–J gjorda. G-frågor på skriftligt prov.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0463" y="1353312"/>
            <a:ext cx="3503167" cy="3108960"/>
          </a:xfrm>
          <a:prstGeom prst="roundRect">
            <a:avLst>
              <a:gd name="adj" fmla="val 8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1631" y="1609344"/>
            <a:ext cx="313740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1631" y="2176272"/>
            <a:ext cx="3100831" cy="20116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Allt G med god kvalitet, plus självständighet, noggrannhet och motiverad riskbedömning.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709160"/>
            <a:ext cx="10875263" cy="1463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Skriftligt prov: G-golv på kunskaper. VG-frågor märkta. Alla gör samma prov.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Praktiska labb A–J måste vara gjorda för G.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Inte STCW ETO-betyg. Inte Arduino-projekt.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Labbdag efter vecka 8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4846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En fysisk dag på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varvsverkstad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, inte skollabb. Värd-elektriker på plats.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Elever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live-wirar inte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ett fartyg. 440 V-tavla: titta, inte röra, utan isolerat värdtillstånd.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Fyra block samma dag: stötväg (pek) → isolation/LOTO på utsedd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död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tavla → DMM på klenspänning/isolerad tränare → hands (död 230-övningstavla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eller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24 V-hållkrets).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Megger om varvet har. Annars tvåpol + flagga gapet. Inte båda hands-passen om tiden dör.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Värden, läraren eller eleven som ser spänning där det ska vara dött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stoppar dagen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Inte nödgeneratorprov, EX-zon, landanslutning, blackout, arbete på spänningssatt fartygstavla.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i den här kursen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5309615" cy="470916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09344"/>
            <a:ext cx="4852415" cy="42062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EX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och tankzoner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IEC/IEEE 80005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och landström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Nödström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, nödstart, blackouttest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Arduino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, PLC som kurskärna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STCW ETO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— den här kursen är inte ETO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TSFS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2024:58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som spår för den här klassen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4015" y="1353312"/>
            <a:ext cx="5309615" cy="470916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47" y="1609344"/>
            <a:ext cx="4852415" cy="42062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1 MΩ som lagkrav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— upplysning, inte 5 §-skall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Avskrift av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TSFS-PDF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eller </a:t>
            </a:r>
            <a:r>
              <a:rPr sz="1600" b="1" i="0">
                <a:solidFill>
                  <a:srgbClr val="1D1D1F"/>
                </a:solidFill>
                <a:latin typeface="Calibri"/>
              </a:rPr>
              <a:t>IP-tabell</a:t>
            </a:r>
            <a:r>
              <a:rPr sz="1600" b="0" i="0">
                <a:solidFill>
                  <a:srgbClr val="1D1D1F"/>
                </a:solidFill>
                <a:latin typeface="Calibri"/>
              </a:rPr>
              <a:t> på slidarna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IEC-spänningsmatris som skall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Ny installation (bara enklare arbete i *befintlig* grupp)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Egen nöd-/batteri-/EMC-modul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•  Facit till skriftligt prov i Classroom som elever 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Kunskapskontroll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353312"/>
          <a:ext cx="10875261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087"/>
                <a:gridCol w="3625087"/>
                <a:gridCol w="3625087"/>
              </a:tblGrid>
              <a:tr h="8077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När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Vad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Kommentar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Varje vecka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Quiz i Classroom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Skall mot upplysning, typfel. Facit i lärarblad, inte på sliden.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Varje vecka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Hemuppgift / protokoll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Papper och foto. Inte händer-megger eller live som läxa.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Efter vecka 8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Labbdag A–J i block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G kräver labbarna. IG vid hoppat säkerhetssteg.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Vecka 9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Skriftligt prov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Efter 12.1. Elevblad bara. Inte facit i elevuppgiften.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LIA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Fördjupad praktik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Samma kedjor under handledning. Inte kursens enda examination.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Källnivåer i kursen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353312"/>
          <a:ext cx="10875261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087"/>
                <a:gridCol w="3625087"/>
                <a:gridCol w="3625087"/>
              </a:tblGrid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Nivå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Vad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Hur vi får använda det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Funktionskrav (skall)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TSFS 2017:26 5 kap. 1–7 §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Får nämnas som skall. Parafrasera. Klistra inte föreskriften.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Vägledning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»Så här görs kontroll« till kap. 5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Får träna mot. Inte skriva som lagkrav.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Upplysning / väntar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1 MΩ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Finns inte i skall-text. Aldrig »lagen kräver 1 MΩ«.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Vår härledning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»Återställd IP«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Från IP-krav + olycksnotis. Inte en TS-kontrollpunkt-rubrik.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Intyg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Till befälhavaren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Regelverk + tillämpad standard. Ingen TS-blankett.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669280"/>
            <a:ext cx="108752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E6E73"/>
                </a:solidFill>
                <a:latin typeface="Calibri"/>
              </a:rPr>
              <a:t>ELSÄK styr inte elinstallation ombord (undantag EMC). Inga påhittade paragrafnummer. Ingen IP-matris på slidarna.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Studentsajt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0875263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1F4D3A"/>
                </a:solidFill>
                <a:latin typeface="Calibri"/>
                <a:hlinkClick r:id="rId2"/>
              </a:rPr>
              <a:t>https://nj22az.github.io/elteknik-och-ellara/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10875263" cy="32918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Bokkapitel, lektioner, Classroom-veckor och labbdag ligger där.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Repo: github.com/nj22az/elteknik-och-ellara — publikt.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TSFS/IEC-PDF:er kopieras inte. Officiella URL:er pekas, parafras i lektionen.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PowerPoint i mappen pptx/ matchar Classroom-veckorna 1–9.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45 p  ·  kursöversikt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YH  ·  ELINGENJÖR, FARTYG OCH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Start  ·  vecka 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4754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Vecka 1 är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stötväg ombord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. SHK 2024:04 som namngivet fall. Inte megger.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Elektriker: leta inte JFB. Ingenjör: läckagesökning är elarbete när komponenten kan vara spänningssatt.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Isolation som handling kommer i vecka 2. Händer på varvet efter vecka 8.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Öppna vecka-01.pptx. Säg Notes, klistra inte lagtext.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