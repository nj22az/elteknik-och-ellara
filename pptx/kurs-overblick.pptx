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Välkommen. Det här är hela kursen på en karta — inte en lektion. Säg 45 poäng, nio veckor, tolv moduler. Inte ETO. Inte full fartygselektriker-övergång.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siffrorna rakt av. 1 p är ungefär 8 timmar, ish. Labben är en dag, inte en vecka. LIA är fördjupning, inte den här kursens betygskärna ensam.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Peka på vecka 7–9: två moduler samma kalendervecka. Labben ligger efter vecka 8, inte inuti en distansvecka. Prov i vecka 9 efter 12.1. Ingen nöd- eller 80005-vecka.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Ett hem per lärandemål. Ingen parallell m3∥m4-bana. Samma kö. Inte Arduino i någon modul.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m11 bär intyg till befälhavaren, ingen TS-blankett. m12 är VG-spåret men G finns: följ given kedja. Poängen summerar 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Inte två kartor. Inte SS 436 40 00 som kurskärna — bara box i m1/m2/m5. Ingen EX-modul, ingen ETO-jämförelse som egen vecka.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 är inte 'lite svagt G'. Hoppad lås, prober först, DMM på MSB — stoppa tråden. VG är inte fler sidor, det är själv + varför mot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varv, inte skola. JFB i verkstaden är land/skola, inte fartygets IT. Labben ersätter inte LIA. Spegla labbdag v2, hitta inte på 440-vandring.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v2 mot kursplanen. v1-resterna nöd, EX, 80005, EMC-modul, batterimodul är ute. 1 MΩ får tränas som upplysning, aldrig som 'lagen kräver'. Klistra inte IP-celler.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Prov: Del A G-golv, Del B VG märkt, Del C fällor. Miniräknare och linjal. Inte Arduino, inte TS-blankett att lämna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mening: 5 kap. 1–7 § är skall, kontrollsidan är inte skall, 1 MΩ är upplysning. Stoppa den som vill ha lagtext på väggen.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Läs URL:en högt. Placeholder om sajten flyttar: samma sökväg. Lösenord till gate nämns inte på sliden — det är en courtesy gate, repot är publikt.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Stanna. Gå inte in i m2. Germanica bara i vecka 1, där lektionen är låst mot STENA GERMANICA / SHK 2024:04.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IBM Plex San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IBM Plex San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IBM Plex San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IBM Plex San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IBM Plex San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17320"/>
            <a:ext cx="11338560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 spc="72" cap="all">
                <a:solidFill>
                  <a:srgbClr val="111111"/>
                </a:solidFill>
                <a:latin typeface="IBM Plex Sans Medium"/>
                <a:ea typeface="IBM Plex Sans Medium"/>
              </a:rPr>
              <a:t>YRKESHÖGSKOLA  ·  45 POÄNG  ·  9 VECKOR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874519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560320"/>
            <a:ext cx="38404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697480"/>
            <a:ext cx="11338560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63240"/>
            <a:ext cx="11338560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Fartyg och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66160"/>
            <a:ext cx="11338560" cy="822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Tolv moduler. Distans i Google Classroom. En fysisk labbdag på varv efter vecka 8.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STCW ETO. Betyg IG / G / VG.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617720"/>
            <a:ext cx="388366" cy="160655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72998" y="4617720"/>
            <a:ext cx="388366" cy="160655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4516" y="4617720"/>
            <a:ext cx="388366" cy="160655"/>
          </a:xfrm>
          <a:prstGeom prst="rect">
            <a:avLst/>
          </a:prstGeom>
          <a:solidFill>
            <a:srgbClr val="8A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6034" y="4617720"/>
            <a:ext cx="388366" cy="160655"/>
          </a:xfrm>
          <a:prstGeom prst="rect">
            <a:avLst/>
          </a:prstGeom>
          <a:solidFill>
            <a:srgbClr val="00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7552" y="4617720"/>
            <a:ext cx="388366" cy="160655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9070" y="4617720"/>
            <a:ext cx="388366" cy="160655"/>
          </a:xfrm>
          <a:prstGeom prst="rect">
            <a:avLst/>
          </a:prstGeom>
          <a:solidFill>
            <a:srgbClr val="E8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029200"/>
            <a:ext cx="388366" cy="160655"/>
          </a:xfrm>
          <a:prstGeom prst="rect">
            <a:avLst/>
          </a:prstGeom>
          <a:solidFill>
            <a:srgbClr val="8F7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2998" y="5029200"/>
            <a:ext cx="388366" cy="160655"/>
          </a:xfrm>
          <a:prstGeom prst="rect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4516" y="5029200"/>
            <a:ext cx="388366" cy="160655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96034" y="5029200"/>
            <a:ext cx="388366" cy="160655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7552" y="5029200"/>
            <a:ext cx="388366" cy="160655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19070" y="5029200"/>
            <a:ext cx="388366" cy="160655"/>
          </a:xfrm>
          <a:prstGeom prst="rect">
            <a:avLst/>
          </a:prstGeom>
          <a:solidFill>
            <a:srgbClr val="5A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Kursen i korthet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2743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463040"/>
            <a:ext cx="2450592" cy="5029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2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45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057400"/>
            <a:ext cx="245059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YH-poäng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≈ 360 studenttimmar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25880"/>
            <a:ext cx="2743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463040"/>
            <a:ext cx="2450592" cy="5029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2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9 veckor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57400"/>
            <a:ext cx="245059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Kalender, heltid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12 moduler i kö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325880"/>
            <a:ext cx="2743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463040"/>
            <a:ext cx="2450592" cy="5029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2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1 labbdag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45059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Varv efter vecka 8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live-wiring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325880"/>
            <a:ext cx="2743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463040"/>
            <a:ext cx="2450592" cy="5029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2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IG / G / 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057400"/>
            <a:ext cx="245059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Skriftligt prov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+ labbar A–J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11338560" cy="2468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•  Utbildning: Elingenjör, fartyg och automation. Valbar: nej.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•  Utfall: grundläggande elteknik i industriella och marintekniska miljöer.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•  Teori huvudsakligen distans. Praktiska moment vid fysisk träff. Fördjupad praktik under LIA.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•  Samma kö för alla. Spårboxar elektriker / fartygsingenjör — inte två kartor.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Nio veckors kalender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1261872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1952" y="2286000"/>
            <a:ext cx="1261872" cy="914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63824" y="2286000"/>
            <a:ext cx="1261872" cy="91440"/>
          </a:xfrm>
          <a:prstGeom prst="rect">
            <a:avLst/>
          </a:prstGeom>
          <a:solidFill>
            <a:srgbClr val="24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2286000"/>
            <a:ext cx="1261872" cy="91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7568" y="2286000"/>
            <a:ext cx="1261872" cy="914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286000"/>
            <a:ext cx="1261871" cy="91440"/>
          </a:xfrm>
          <a:prstGeom prst="rect">
            <a:avLst/>
          </a:prstGeom>
          <a:solidFill>
            <a:srgbClr val="3D2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2286000"/>
            <a:ext cx="1261872" cy="91440"/>
          </a:xfrm>
          <a:prstGeom prst="rect">
            <a:avLst/>
          </a:prstGeom>
          <a:solidFill>
            <a:srgbClr val="0E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73184" y="2286000"/>
            <a:ext cx="1261871" cy="914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7210" y="2228850"/>
            <a:ext cx="205740" cy="2057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1261872"/>
            <a:ext cx="388366" cy="160655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1422527"/>
            <a:ext cx="54864" cy="799465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m1 · 3 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Elsäkerhet, stötar, elens verkningar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99082" y="2228850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9344" y="1261872"/>
            <a:ext cx="388366" cy="160655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20" y="1422527"/>
            <a:ext cx="54864" cy="799465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35024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m2 · 4 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Isolering, SMS, säkerhetsåtgärder innan arbete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0954" y="2228850"/>
            <a:ext cx="205740" cy="205740"/>
          </a:xfrm>
          <a:prstGeom prst="rect">
            <a:avLst/>
          </a:prstGeom>
          <a:solidFill>
            <a:srgbClr val="24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71216" y="1261872"/>
            <a:ext cx="388366" cy="160655"/>
          </a:xfrm>
          <a:prstGeom prst="rect">
            <a:avLst/>
          </a:prstGeom>
          <a:solidFill>
            <a:srgbClr val="8A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6392" y="1422527"/>
            <a:ext cx="54864" cy="799465"/>
          </a:xfrm>
          <a:prstGeom prst="rect">
            <a:avLst/>
          </a:prstGeom>
          <a:solidFill>
            <a:srgbClr val="8A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896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6896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m3 · 5 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Resistiv DC: mätning och beräkning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2826" y="2228850"/>
            <a:ext cx="205740" cy="2057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33088" y="1261872"/>
            <a:ext cx="388366" cy="160655"/>
          </a:xfrm>
          <a:prstGeom prst="rect">
            <a:avLst/>
          </a:prstGeom>
          <a:solidFill>
            <a:srgbClr val="00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98264" y="1422527"/>
            <a:ext cx="54864" cy="799465"/>
          </a:xfrm>
          <a:prstGeom prst="rect">
            <a:avLst/>
          </a:prstGeom>
          <a:solidFill>
            <a:srgbClr val="00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58768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58768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m4 · 4 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58768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Enfas AC: mätning och beräkning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58768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84698" y="2228850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60" y="1261872"/>
            <a:ext cx="388366" cy="160655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0136" y="1422527"/>
            <a:ext cx="54864" cy="799465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m5 · 4 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Trefas, system, spänningstyper ombord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46570" y="2228850"/>
            <a:ext cx="205740" cy="205740"/>
          </a:xfrm>
          <a:prstGeom prst="rect">
            <a:avLst/>
          </a:prstGeom>
          <a:solidFill>
            <a:srgbClr val="3D2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56832" y="1261872"/>
            <a:ext cx="388366" cy="160655"/>
          </a:xfrm>
          <a:prstGeom prst="rect">
            <a:avLst/>
          </a:prstGeom>
          <a:solidFill>
            <a:srgbClr val="E8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22008" y="1422527"/>
            <a:ext cx="54864" cy="799465"/>
          </a:xfrm>
          <a:prstGeom prst="rect">
            <a:avLst/>
          </a:prstGeom>
          <a:solidFill>
            <a:srgbClr val="E8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2512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m6 · 4 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DC/AC-utrustning, maskiner, drift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82512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08441" y="2228850"/>
            <a:ext cx="205740" cy="205740"/>
          </a:xfrm>
          <a:prstGeom prst="rect">
            <a:avLst/>
          </a:prstGeom>
          <a:solidFill>
            <a:srgbClr val="0E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19" y="1261872"/>
            <a:ext cx="388366" cy="160655"/>
          </a:xfrm>
          <a:prstGeom prst="rect">
            <a:avLst/>
          </a:prstGeom>
          <a:solidFill>
            <a:srgbClr val="8F7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7" y="1261872"/>
            <a:ext cx="388366" cy="160655"/>
          </a:xfrm>
          <a:prstGeom prst="rect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27263" y="1422527"/>
            <a:ext cx="54864" cy="799465"/>
          </a:xfrm>
          <a:prstGeom prst="rect">
            <a:avLst/>
          </a:prstGeom>
          <a:solidFill>
            <a:srgbClr val="8F7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85631" y="1422527"/>
            <a:ext cx="54864" cy="799465"/>
          </a:xfrm>
          <a:prstGeom prst="rect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44383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44383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m7 + m8 · 6 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44383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Eltavla / elcentral + verktyg och instrument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44383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70314" y="2228850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51392" y="1261872"/>
            <a:ext cx="388366" cy="160655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09760" y="1261872"/>
            <a:ext cx="388366" cy="160655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89136" y="1422527"/>
            <a:ext cx="54864" cy="799465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47504" y="1422527"/>
            <a:ext cx="54864" cy="799465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06256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m9 + m10 · 7 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06256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Ritningar, schema + enklare hållkrets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06256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632185" y="2228850"/>
            <a:ext cx="205740" cy="205740"/>
          </a:xfrm>
          <a:prstGeom prst="rect">
            <a:avLst/>
          </a:prstGeom>
          <a:solidFill>
            <a:srgbClr val="2A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13263" y="1261872"/>
            <a:ext cx="388366" cy="160655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771631" y="1261872"/>
            <a:ext cx="388366" cy="160655"/>
          </a:xfrm>
          <a:prstGeom prst="rect">
            <a:avLst/>
          </a:prstGeom>
          <a:solidFill>
            <a:srgbClr val="5A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100" b="0" i="0" dirty="0" spc="6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51007" y="1422527"/>
            <a:ext cx="54864" cy="799465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009375" y="1422527"/>
            <a:ext cx="54864" cy="799465"/>
          </a:xfrm>
          <a:prstGeom prst="rect">
            <a:avLst/>
          </a:prstGeom>
          <a:solidFill>
            <a:srgbClr val="5A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68128" y="2587752"/>
            <a:ext cx="1170432" cy="2011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68128" y="2770632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m11 + m12 · 8 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68128" y="2971800"/>
            <a:ext cx="1170432" cy="12344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111111"/>
                </a:solidFill>
                <a:latin typeface="IBM Plex Sans"/>
                <a:ea typeface="IBM Plex Sans"/>
              </a:rPr>
              <a:t>Elarbete, IP, intyg + felsökning + skriftligt prov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68128" y="4206240"/>
            <a:ext cx="1170432" cy="182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0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Distans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67544" y="2404872"/>
            <a:ext cx="73152" cy="2560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26880" y="4416552"/>
            <a:ext cx="1554480" cy="5029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ctr"/>
            <a:r>
              <a:rPr sz="11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Labbdag · varv efter v8. Inte live-wiring. Inte 440 utan värd.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5989320"/>
            <a:ext cx="11338560" cy="320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Stam = station V1–V9 i V-färg. Linje = modul M01–M12 i M-färg. Byte V7–V9: två M-lozenger, ingen blandfyllnad.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Tolv moduler  ·  1–6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423672" cy="175260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" y="1280160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Elsäkerhet, stötar, elens verkningar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0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3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" y="1455420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Risk, stötväg, varför isolation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29967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" y="2029967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Isolering, SMS, säkerhetsåtgärder innan arbete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029967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4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80" y="2205227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Kedja: från, lås, död, megger, protokoll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79775"/>
            <a:ext cx="423672" cy="175260"/>
          </a:xfrm>
          <a:prstGeom prst="rect">
            <a:avLst/>
          </a:prstGeom>
          <a:solidFill>
            <a:srgbClr val="8A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80" y="2779775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DC-kretsar: mätning och beräkning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779775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5 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80" y="2955035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Ohm, serie/parallell, polaritet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29583"/>
            <a:ext cx="423672" cy="175260"/>
          </a:xfrm>
          <a:prstGeom prst="rect">
            <a:avLst/>
          </a:prstGeom>
          <a:solidFill>
            <a:srgbClr val="00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80" y="3529583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Enfas AC: mätning och beräkning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529583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4 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80" y="3704843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Rms, AC-läge, resistiv 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79392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80" y="4279392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Trefas, system, spänningstyper ombord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4279392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4 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80" y="4454652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Linje vs fas. 24 / 230 / 400–440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029200"/>
            <a:ext cx="423672" cy="175260"/>
          </a:xfrm>
          <a:prstGeom prst="rect">
            <a:avLst/>
          </a:prstGeom>
          <a:solidFill>
            <a:srgbClr val="E8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880" y="5029200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DC/AC-utrustning, maskiner, konstruktion och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5029200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4 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80" y="5204460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Skylt, motor/generator, look-not-touch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Tolv moduler  ·  7–12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423672" cy="175260"/>
          </a:xfrm>
          <a:prstGeom prst="rect">
            <a:avLst/>
          </a:prstGeom>
          <a:solidFill>
            <a:srgbClr val="8F7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" y="1280160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Eltavla / elcentral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0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3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" y="1455420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Huvudtavla vs grupptavla. Död övningstavla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29967"/>
            <a:ext cx="423672" cy="175260"/>
          </a:xfrm>
          <a:prstGeom prst="rect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" y="2029967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Verktyg och mätinstrument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029967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3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80" y="2205227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Tvåpol, DMM, megger — rätt jobb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79775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80" y="2779775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Ritningar, kopplingsschema, måttsättning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779775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4 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80" y="2955035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Enlinje vs krets. Inte live för att gissa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29583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80" y="3529583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Enklare styrkrets / hållkrets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529583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3 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80" y="3704843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Start, håll, stopp. Papper först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79392"/>
            <a:ext cx="423672" cy="17526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80" y="4279392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Enklare elarbete, funktionsprovning, enkel IP, intyg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4279392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5 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80" y="4454652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Kåpa tillbaka. Intyg till befälhavaren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029200"/>
            <a:ext cx="423672" cy="175260"/>
          </a:xfrm>
          <a:prstGeom prst="rect">
            <a:avLst/>
          </a:prstGeom>
          <a:solidFill>
            <a:srgbClr val="5A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880" y="5029200"/>
            <a:ext cx="6949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Risk, strukturerad felsökning (VG-spåret)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5029200"/>
            <a:ext cx="64008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4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3 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80" y="5204460"/>
            <a:ext cx="96012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Ställning på papper. Inte PE-jakt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Två ingångar, samma kö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44751"/>
            <a:ext cx="51206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Elektriker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5120640" cy="3200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Tar med sig: DC/AC-räkning, instrument, ritning, hållkrets, losskoppling på land.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Saknar i den här kursen: SMS som fartygsrutin. Isolation mot skrov/IT, inte PE. Att ELSÄK inte är toppnod ombord. Spänningstyper ombord. Intyg till befälhavaren.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Komprimera: m3, m4, m8, m9, m10.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Fördjupa: m1, m2, m5, m11.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1"/>
            <a:ext cx="51206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Fartygsingenjör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47088"/>
            <a:ext cx="5120640" cy="3200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Tar med sig: anläggningen, maskiner, tavlor som rum, trefas som drift.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Saknar i den här kursen: megger som arbetsmoment. Dokumenterad isolation innan »vi kan anläggningen«. Resistiv beräkning och mätdisciplin. Ritning och hållkrets med händerna. Losskoppling, intyg, motiverad riskbedömning.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Komprimera: m5-kontext, m6, m7.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Fördjupa: m2–m4, m8–m12.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Betyg  ·  IG / G / VG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36576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98448"/>
            <a:ext cx="3657600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/>
          <a:lstStyle/>
          <a:p>
            <a:pPr algn="l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1783080"/>
            <a:ext cx="3364992" cy="18288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Säkerhetssteg hoppas. Handen först. Live 440. Megger på spänningssatt. »Jag kan anläggningen.«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298448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298448"/>
            <a:ext cx="3657600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/>
          <a:lstStyle/>
          <a:p>
            <a:pPr algn="l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1783080"/>
            <a:ext cx="3364992" cy="18288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Golvet: följer kedjan, mäter, skriver, med handledning. Labbar A–J gjorda. G-frågor på skriftligt prov.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298448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98448"/>
            <a:ext cx="3657600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/>
          <a:lstStyle/>
          <a:p>
            <a:pPr algn="l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783080"/>
            <a:ext cx="3364992" cy="18288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Allt G med god kvalitet, plus självständighet, noggrannhet och motiverad riskbedömning.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31920"/>
            <a:ext cx="11338560" cy="21945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•  Skriftligt prov: G-golv på kunskaper. VG-frågor märkta. Alla gör samma prov.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•  Praktiska labb A–J måste vara gjorda för G.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•  Inte STCW ETO-betyg. Inte Arduino-projekt.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Labbdag efter 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08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28016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904" y="1280160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En fysisk dag på varvsverkstad, inte skollabb. Värd-elektriker på plats.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669288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904" y="1669288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Elever live-wirar inte ett fartyg. 440 V-tavla: titta, inte röra, utan isolerat värdtillstånd.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058416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904" y="2058416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Fyra block samma dag: stötväg (pek) → isolation/LOTO på utsedd död tavla → DMM på klenspänning/isolerad tränare → hands (död 230-övningstavla eller 24 V-hållkrets).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447544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904" y="2447544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Megger om varvet har. Annars tvåpol + flagga gapet. Inte båda hands-passen om tiden dör.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836672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904" y="2836672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Värden, läraren eller eleven som ser spänning där det ska vara dött stoppar dagen.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22580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904" y="3225800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nödgeneratorprov, EX-zon, landanslutning, blackout, arbete på spänningssatt fartygstavla.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i den här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54864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4864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1444752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768" y="1444752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EX och tankzoner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2176272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768" y="2176272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IEC/IEEE 80005 och landström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2907791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768" y="2907791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Nödström, nödstart, blackouttest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3639311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768" y="3639311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Arduino, PLC som kurskärna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370831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768" y="4370831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STCW ETO — den här kursen är inte ETO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5102351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768" y="5102351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TSFS 2024:58 som spår för den här klassen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1444752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9928" y="1444752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1 MΩ som lagkrav — upplysning, inte 5 §-skall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176272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9928" y="2176272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Avskrift av TSFS-PDF eller IP-tabell på slidarna</a:t>
            </a:r>
          </a:p>
        </p:txBody>
      </p:sp>
      <p:sp>
        <p:nvSpPr>
          <p:cNvPr id="28" name="Oval 27"/>
          <p:cNvSpPr/>
          <p:nvPr/>
        </p:nvSpPr>
        <p:spPr>
          <a:xfrm>
            <a:off x="6419088" y="2907791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9928" y="2907791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IEC-spänningsmatris som skall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639311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9928" y="3639311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Ny installation (bara enklare arbete i *befintlig* grupp)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370831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9928" y="4370831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Egen nöd-/batteri-/EMC-modul</a:t>
            </a:r>
          </a:p>
        </p:txBody>
      </p:sp>
      <p:sp>
        <p:nvSpPr>
          <p:cNvPr id="34" name="Oval 33"/>
          <p:cNvSpPr/>
          <p:nvPr/>
        </p:nvSpPr>
        <p:spPr>
          <a:xfrm>
            <a:off x="6419088" y="5102351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9928" y="5102351"/>
            <a:ext cx="48463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Facit till skriftligt prov i Classroom som elever 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Kunskapskontroll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2194560" cy="38404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316736"/>
            <a:ext cx="2103120" cy="3474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När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298448"/>
            <a:ext cx="4206240" cy="38404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316736"/>
            <a:ext cx="4114800" cy="3474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Vad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79" y="1298448"/>
            <a:ext cx="4937760" cy="38404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7143" y="1316736"/>
            <a:ext cx="4846320" cy="3474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Kommentar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1700784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Varje vecka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682495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1700784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Quiz i Classroom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79" y="1682495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7143" y="1700784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Skall mot upplysning, typfel. Facit i lärarblad, inte på sliden.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249424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2267712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Varje vecka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249424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4" y="2267712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Hemuppgift / protokoll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79" y="2249424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7143" y="2267712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Papper och foto. Inte händer-megger eller live som läxa.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81635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2834640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Efter vecka 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281635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0904" y="2834640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Labbdag A–J i block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79" y="2816352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3" y="2834640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G kräver labbarna. IG vid hoppat säkerhetssteg.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38328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3401568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Vecka 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38328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0904" y="3401568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Skriftligt prov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79" y="3383280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67143" y="3401568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Efter 12.1. Elevblad bara. Inte facit i elevuppgiften.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950208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" y="3968496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LIA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3950208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60904" y="3968496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Fördjupad praktik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12279" y="3950208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67143" y="3968496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Samma kedjor under handledning. Inte kursens enda examination.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Källnivåer i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61872"/>
            <a:ext cx="2194560" cy="38404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280160"/>
            <a:ext cx="2103120" cy="3474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Nivå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261872"/>
            <a:ext cx="4206240" cy="38404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280160"/>
            <a:ext cx="4114800" cy="3474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Vad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79" y="1261872"/>
            <a:ext cx="4937760" cy="38404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7143" y="1280160"/>
            <a:ext cx="4846320" cy="3474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Hur vi får använda det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45919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1664207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Funktionskrav (skall)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645919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1664207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TSFS 2017:26 5 kap. 1–7 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79" y="1645919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7143" y="1664207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Får nämnas som skall. Parafrasera. Klistra inte föreskriften.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212848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2231136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Vägledning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212848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4" y="2231136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»Så här görs kontroll« till kap.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79" y="2212848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7143" y="2231136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Får träna mot. Inte skriva som lagkrav.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7977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2798064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Upplysning / väntar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277977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0904" y="2798064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1 MΩ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79" y="2779776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3" y="2798064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Finns inte i skall-text. Aldrig »lagen kräver 1 MΩ«.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346704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3364992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Vår härledning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346704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0904" y="3364992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»Återställd IP«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79" y="3346704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67143" y="3364992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Från IP-krav + olycksnotis. Inte en TS-kontrollpunkt-rubrik.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91363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" y="3931920"/>
            <a:ext cx="21031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Intyg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391363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60904" y="3931920"/>
            <a:ext cx="411480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Till befälhavaren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12279" y="3913632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67143" y="3931920"/>
            <a:ext cx="4846320" cy="53035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Regelverk + tillämpad standard. Ingen TS-blankett.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577840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ELSÄK styr inte elinstallation ombord (undantag EMC). Inga påhittade paragrafnummer. Ingen IP-matris på slidarna.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Studentsajt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11338560" cy="4572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https://nj22az.github.io/elteknik-och-ellara/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20240"/>
            <a:ext cx="548640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210312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104" y="210312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Bokkapitel, lektioner, Classroom-veckor och labbdag ligger där.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64160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9104" y="264160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Repo: github.com/nj22az/elteknik-och-ellara — publikt.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18008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104" y="318008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TSFS/IEC-PDF:er kopieras inte. Officiella URL:er pekas, parafras i lektionen.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71856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104" y="371856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PowerPoint i mappen pptx/ matchar Classroom-veckorna 1–9.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77240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Start  ·  vecka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0116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kursöversikt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1051560" cy="25603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13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2588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104" y="132588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Vecka 1 är stötväg ombord. SHK 2024:04 som namngivet fall. Inte megger.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86436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104" y="186436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Elektriker: leta inte JFB. Ingenjör: läckagesökning är elarbete när komponenten kan vara spänningssatt.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40284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9104" y="240284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Isolation som handling kommer i vecka 2. Händer på varvet efter vecka 8.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94132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104" y="294132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Öppna vecka-01.pptx. Säg Notes, klistra inte lagtext.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teknik v3">
  <a:themeElements>
    <a:clrScheme name="Elteknik v3">
      <a:dk1>
        <a:srgbClr val="111111"/>
      </a:dk1>
      <a:lt1>
        <a:srgbClr val="FFFFFF"/>
      </a:lt1>
      <a:dk2>
        <a:srgbClr val="111111"/>
      </a:dk2>
      <a:lt2>
        <a:srgbClr val="FFFFFF"/>
      </a:lt2>
      <a:accent1>
        <a:srgbClr val="E6002D"/>
      </a:accent1>
      <a:accent2>
        <a:srgbClr val="F39700"/>
      </a:accent2>
      <a:accent3>
        <a:srgbClr val="1A1A1A"/>
      </a:accent3>
      <a:accent4>
        <a:srgbClr val="6B2D5B"/>
      </a:accent4>
      <a:accent5>
        <a:srgbClr val="111111"/>
      </a:accent5>
      <a:accent6>
        <a:srgbClr val="111111"/>
      </a:accent6>
      <a:hlink>
        <a:srgbClr val="111111"/>
      </a:hlink>
      <a:folHlink>
        <a:srgbClr val="111111"/>
      </a:folHlink>
    </a:clrScheme>
    <a:fontScheme name="Office">
      <a:maj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