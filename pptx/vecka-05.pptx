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nöd, landström, EX. Den här veckan är linje mot fas och tre spänningstyper som begrepp.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isolation (2.1). Inte DC (3.1). Inte enfas-rms som lektion (4.1). Inte nöd, landström, EX. Den här veckan är linje mot fas och tre spänningstyper som begrepp.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5.1.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papper/foto. Live 440 är inte kurslabb.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nolla och PE. Ingenjören tar maskinrummet som spänning.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kap. 1–4 och 6–7 § (nöd, batteri, landnät) undervisas inte här.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Inga påhittade celler. Peka inte IEC. Övningen är enlinje och stängd tavla.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Namnen är kursens. Inte en spänningstabell att slå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Quiz: L1–L2 är linje. Formeln U_L = U_f√3 är ellära på symmetrisk stjärna, inte en TSFS-paragraf. En mening räcker, inget taveltal.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JFB är inte bevis. Isolation = 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Inte startkondensator-djup. Inte tre uttag.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Labbdag v2. Värden äger luckan. Ingen live-wiring. Ingen DMM på MSB.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öppna luckan på fotot.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Rms från 4.1. DC-läge ljuger på 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DMM-läge från 3.1/4.1 gäller fortfarande. Inte nytt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På varvet: visning bakom värden, lucka stängd om värden inte öppnar och står kvar.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Facit i quizbladet. Fånga “bara lite mer än 400”.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80005- och IEC-frågor.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IBM Plex Sans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IBM Plex Sans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IBM Plex Sans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IBM Plex Sans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IBM Plex Sans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IBM Plex Sans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9164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Medium"/>
                <a:ea typeface="IBM Plex Sans Medium"/>
              </a:rPr>
              <a:t>Elteknik och ellära  ·  45 YH-poäng  ·  Vecka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2057400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 och spänningstyper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2743200"/>
            <a:ext cx="3840480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880360"/>
            <a:ext cx="11338560" cy="3657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Modul 5  ·  linje, fas, 24 / 230 / 400–440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91840"/>
            <a:ext cx="11338560" cy="73152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Distans. Papper och foto. 440 V = look-not-touch. Inte 80005. Inte IEC-tabell.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4297680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492" y="4297680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4630" y="4260342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4279392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5150" y="4297680"/>
            <a:ext cx="219456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5.1 Trefas och spänningstyper ombord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1732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Elteknik och ellära · vecka 5 · distans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Papper och foto. 440 V = look-not-touch.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ur-5-1-trefas-sp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7635240" cy="4292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3879" y="777240"/>
            <a:ext cx="3657600" cy="29260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 spc="72" cap="all">
                <a:solidFill>
                  <a:srgbClr val="111111"/>
                </a:solidFill>
                <a:latin typeface="IBM Plex Sans SemiBold"/>
                <a:ea typeface="IBM Plex Sans SemiBold"/>
              </a:rPr>
              <a:t>Legend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1115568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4719" y="1115568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Tre ledare till motor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1645919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4719" y="1645919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mellan L1 och L2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2176272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4719" y="2176272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Skrov är inte N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2706624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4719" y="2706624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24 V DC, 230 V enfas, 400/440 V trefas</a:t>
            </a:r>
          </a:p>
        </p:txBody>
      </p:sp>
      <p:sp>
        <p:nvSpPr>
          <p:cNvPr id="18" name="Oval 17"/>
          <p:cNvSpPr/>
          <p:nvPr/>
        </p:nvSpPr>
        <p:spPr>
          <a:xfrm>
            <a:off x="8183879" y="3236976"/>
            <a:ext cx="279400" cy="2794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4719" y="3236976"/>
            <a:ext cx="324612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"/>
                <a:ea typeface="IBM Plex Sans"/>
              </a:rPr>
              <a:t>Stängd 440-tavla: look-not-touch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Efter den här veckan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vs fas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Tre ledare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3113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Varför trefas till maskiner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51760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Namnge 24 V DC, 230 V enfas, 400/440 V trefas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72384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 V-tavla: titta, inte röra, utan värdtillstånd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8444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49300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VG: varför inte mäta trefas som enfas-DC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Två spår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89888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7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Skrov ≠ 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554480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Ingenjör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29967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 V är inte ett rum, det är tre spänningar.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Skall, en mening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8961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Känn igen vilken spänning du står vid. Trefas är linje mellan faser, inte tre lösa enfas mot skrov. 440 V-tavla rör du inte utan att värden isolerat och gett tillstånd. Mät inte trefas som DC.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7744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TSFS 2017:26 5 kap. 5 §. Parafras. Klistra inte lagtext.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den här veckan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813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3898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DMM på MSB / live 440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019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8105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Landström, 80005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225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3113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IEC-spänningstabell, IP-matris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651760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Nöd, EX, blackout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6382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072384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Hållkrets, maskinkonstruktion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 spänningstyper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Kursens låsta begrepp, ingen IEC-matris: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7510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83664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24 V DC — styr/håll. 3.1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957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04288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230 V enfas — inredning, rms. 4.1. Inte lägenhetens TN bara för att talet är 230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163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2491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400/440 V trefas — maskiner. Linje mellan faser. 440 på tavlan = look-not-touch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Linje vs fas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= mellan två faser (L1–L2). Fas = en fas mot systemets nolla *om den finns*. Ombord saknas ofta den nolla du är van vid.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Skrov ≠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Skrov är inte lägenhetens nolla. Du mäter inte fas mot skrov som PE hemma.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 ledare till maskinen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Trefasmaskin: tre ledare räcker. Inte “tre enfas i samma rör”. Jämnare effekt; motor som begrepp, inte m6.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440 look-not-touch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Lucka stängd. Proberna i fickan. Utan värdtillstånd: titta, inte röra. 440 är inte “lite mer än 400, jag mäter”.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Fotoövningen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53312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 Classroom: enlinje 24 / 230 / 400–440; schema tre ledare; foto 440-tavla lucka stängd.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402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240280"/>
            <a:ext cx="54864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80360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vs fas; tre spänningstyper; varför tre ledare; look-not-touch.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404872"/>
            <a:ext cx="512064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880360"/>
            <a:ext cx="5120640" cy="31089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varför fas–skrov inte är nolla hemma; varför DC-läge på trefas är fel (4.1 + 5 §).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Genomgånget fel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Elektriker “kollar 440”: mäter en fas mot skrov som PE, får inte linje. Ingenjör: “tre faser, tre enfas, mät en.” DMM i DC-läge kvar från 24 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Rätt kedja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38988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9103" y="138988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Namnge systemet: 24 / 230 / 400–440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83692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103" y="183692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Linje mellan faser, inte mot skrov som nolla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228396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9103" y="228396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AC-läge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273100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9103" y="273100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 V-tavla: titta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178048"/>
            <a:ext cx="355600" cy="3556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>
                <a:solidFill>
                  <a:srgbClr val="FFFFFF"/>
                </a:solidFill>
                <a:latin typeface="IBM Plex Sans SemiBold"/>
                <a:ea typeface="IBM Plex Sans SemiBold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9103" y="3178048"/>
            <a:ext cx="10470896" cy="35560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Mätning bara på isolerad tränare/död tavla enligt v2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Stopp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389888"/>
            <a:ext cx="1133856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389888"/>
            <a:ext cx="11338560" cy="32918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0" bIns="0"/>
          <a:lstStyle/>
          <a:p>
            <a:pPr algn="l"/>
            <a:r>
              <a:rPr sz="1200" b="0" i="0" dirty="0" spc="96" cap="all">
                <a:solidFill>
                  <a:srgbClr val="FFFFFF"/>
                </a:solidFill>
                <a:latin typeface="IBM Plex Sans SemiBold"/>
                <a:ea typeface="IBM Plex Sans SemiBold"/>
              </a:rPr>
              <a:t>FARA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3852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1847088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Prober fas–skrov som nolla hemma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35915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2267712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Live-wiring, DMM på MSB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77977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2688336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“Tre enfas”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20040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108960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Påhittad spänningstabell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3621024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3529584"/>
            <a:ext cx="1066190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Landström / 80005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Quiz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7160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Fyra saker: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892807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L1–L2 är linje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04872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13432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Skrov ≠ 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25496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734056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440 look-not-touch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91440" cy="9144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154679"/>
            <a:ext cx="10753344" cy="329184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Inte tre enfas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07492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Gör quizzen i Classroom den här veckan.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01168"/>
            <a:ext cx="494284" cy="204469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492" y="201168"/>
            <a:ext cx="411480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Trefas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02682" y="163830"/>
            <a:ext cx="278130" cy="278130"/>
          </a:xfrm>
          <a:prstGeom prst="rect">
            <a:avLst/>
          </a:prstGeom>
          <a:noFill/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21732" y="182880"/>
            <a:ext cx="240030" cy="24003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0" i="0" dirty="0" spc="84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53202" y="201168"/>
            <a:ext cx="1645920" cy="204469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8368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822960"/>
            <a:ext cx="11338560" cy="438912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2800" b="0" i="0" dirty="0">
                <a:solidFill>
                  <a:srgbClr val="111111"/>
                </a:solidFill>
                <a:latin typeface="IBM Plex Sans SemiBold"/>
                <a:ea typeface="IBM Plex Sans SemiBold"/>
              </a:rPr>
              <a:t>Inte i 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389888"/>
            <a:ext cx="11338560" cy="64008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Nödström. Batterimodul. Landström. EX. IEC-spänningstabell. IP-tabell. Live trefasmätning. Hållkrets. Maskinkonstruktion.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840480"/>
            <a:ext cx="11338560" cy="384048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800" b="0" i="0" dirty="0">
                <a:solidFill>
                  <a:srgbClr val="111111"/>
                </a:solidFill>
                <a:latin typeface="IBM Plex Sans"/>
                <a:ea typeface="IBM Plex Sans"/>
              </a:rPr>
              <a:t>LIA: peka rätt spänningstyp från däck under handledning, proberna i fickan på 440.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473952"/>
            <a:ext cx="11365992" cy="4445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528816"/>
            <a:ext cx="423672" cy="175260"/>
          </a:xfrm>
          <a:prstGeom prst="rect">
            <a:avLst/>
          </a:prstGeom>
          <a:solidFill>
            <a:srgbClr val="00B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M05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304" y="6528816"/>
            <a:ext cx="2194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Trefas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6528816"/>
            <a:ext cx="205740" cy="205740"/>
          </a:xfrm>
          <a:prstGeom prst="rect">
            <a:avLst/>
          </a:prstGeom>
          <a:solidFill>
            <a:srgbClr val="5C3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 dirty="0" spc="72" cap="all">
                <a:solidFill>
                  <a:srgbClr val="FFFFFF"/>
                </a:solidFill>
                <a:latin typeface="IBM Plex Sans SemiBold"/>
                <a:ea typeface="IBM Plex Sans SemiBold"/>
              </a:rPr>
              <a:t>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2252" y="6528816"/>
            <a:ext cx="146304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l"/>
            <a:r>
              <a:rPr sz="1200" b="0" i="0" dirty="0">
                <a:solidFill>
                  <a:srgbClr val="111111"/>
                </a:solidFill>
                <a:latin typeface="IBM Plex Sans Medium"/>
                <a:ea typeface="IBM Plex Sans Medium"/>
              </a:rPr>
              <a:t>Vecka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528816"/>
            <a:ext cx="1051560" cy="175260"/>
          </a:xfrm>
          <a:prstGeom prst="rect">
            <a:avLst/>
          </a:prstGeom>
          <a:noFill/>
        </p:spPr>
        <p:txBody>
          <a:bodyPr wrap="square" lIns="25400" rIns="25400" tIns="0" bIns="0"/>
          <a:lstStyle/>
          <a:p>
            <a:pPr algn="r"/>
            <a:r>
              <a:rPr sz="1200" b="0" i="0" dirty="0" spc="72">
                <a:solidFill>
                  <a:srgbClr val="111111"/>
                </a:solidFill>
                <a:latin typeface="IBM Plex Sans SemiBold"/>
                <a:ea typeface="IBM Plex Sans Semi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teknik v3">
  <a:themeElements>
    <a:clrScheme name="Elteknik v3">
      <a:dk1>
        <a:srgbClr val="111111"/>
      </a:dk1>
      <a:lt1>
        <a:srgbClr val="FFFFFF"/>
      </a:lt1>
      <a:dk2>
        <a:srgbClr val="111111"/>
      </a:dk2>
      <a:lt2>
        <a:srgbClr val="FFFFFF"/>
      </a:lt2>
      <a:accent1>
        <a:srgbClr val="00B261"/>
      </a:accent1>
      <a:accent2>
        <a:srgbClr val="5C3B00"/>
      </a:accent2>
      <a:accent3>
        <a:srgbClr val="111111"/>
      </a:accent3>
      <a:accent4>
        <a:srgbClr val="111111"/>
      </a:accent4>
      <a:accent5>
        <a:srgbClr val="111111"/>
      </a:accent5>
      <a:accent6>
        <a:srgbClr val="111111"/>
      </a:accent6>
      <a:hlink>
        <a:srgbClr val="111111"/>
      </a:hlink>
      <a:folHlink>
        <a:srgbClr val="111111"/>
      </a:folHlink>
    </a:clrScheme>
    <a:fontScheme name="Office">
      <a:maj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IBM Plex Sans"/>
        <a:cs typeface="IBM Plex Sans"/>
        <a:font script="Jpan" typeface="IBM Plex Sans"/>
        <a:font script="Hang" typeface="IBM Plex Sans"/>
        <a:font script="Hans" typeface="IBM Plex Sans"/>
        <a:font script="Hant" typeface="IBM Plex San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