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IBM Plex Sans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IBM Plex Sans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IBM Plex Sans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IBM Plex Sans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IBM Plex Sans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965960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Elteknik och ellära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2651760"/>
            <a:ext cx="38404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88920"/>
            <a:ext cx="1133856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YH · 45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54680"/>
            <a:ext cx="1133856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Fartyg och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840480"/>
            <a:ext cx="423672" cy="175260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26592" y="3840480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1704" y="3840480"/>
            <a:ext cx="423672" cy="175260"/>
          </a:xfrm>
          <a:prstGeom prst="rect">
            <a:avLst/>
          </a:prstGeom>
          <a:solidFill>
            <a:srgbClr val="8A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M03</a:t>
            </a:r>
          </a:p>
        </p:txBody>
      </p:sp>
      <p:sp>
        <p:nvSpPr>
          <p:cNvPr id="9" name="Rectangle 8"/>
          <p:cNvSpPr/>
          <p:nvPr/>
        </p:nvSpPr>
        <p:spPr>
          <a:xfrm>
            <a:off x="1956816" y="3840480"/>
            <a:ext cx="423672" cy="175260"/>
          </a:xfrm>
          <a:prstGeom prst="rect">
            <a:avLst/>
          </a:prstGeom>
          <a:solidFill>
            <a:srgbClr val="00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1928" y="3840480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87040" y="3840480"/>
            <a:ext cx="423672" cy="175260"/>
          </a:xfrm>
          <a:prstGeom prst="rect">
            <a:avLst/>
          </a:prstGeom>
          <a:solidFill>
            <a:srgbClr val="E8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2152" y="3840480"/>
            <a:ext cx="423672" cy="175260"/>
          </a:xfrm>
          <a:prstGeom prst="rect">
            <a:avLst/>
          </a:prstGeom>
          <a:solidFill>
            <a:srgbClr val="8F7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17264" y="3840480"/>
            <a:ext cx="423672" cy="175260"/>
          </a:xfrm>
          <a:prstGeom prst="rect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32376" y="3840480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3840480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62600" y="3840480"/>
            <a:ext cx="423672" cy="17526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712" y="3840480"/>
            <a:ext cx="423672" cy="175260"/>
          </a:xfrm>
          <a:prstGeom prst="rect">
            <a:avLst/>
          </a:prstGeom>
          <a:solidFill>
            <a:srgbClr val="5A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Elsäkerhet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Elsäkerhet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960120"/>
            <a:ext cx="11338560" cy="4572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Modul M01 Elsäkerhet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1133856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Station V1 · Vecka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Elsäkerhet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Elsäkerhet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114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Stötväg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392" y="1463040"/>
            <a:ext cx="10515600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Ström genom kroppen: en väg in, en väg ut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074672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7392" y="2074672"/>
            <a:ext cx="10515600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Ofta skrov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686304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392" y="2686304"/>
            <a:ext cx="10515600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Fukt gör höljet till ledare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Elsäkerhet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Elsäkerhet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-1-1-stotvag-ventil-sk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7680960" cy="6784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777240"/>
            <a:ext cx="3657600" cy="29260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 spc="72" cap="all">
                <a:solidFill>
                  <a:srgbClr val="111111"/>
                </a:solidFill>
                <a:latin typeface="IBM Plex Sans SemiBold"/>
                <a:ea typeface="IBM Plex Sans SemiBold"/>
              </a:rPr>
              <a:t>Legend</a:t>
            </a:r>
          </a:p>
        </p:txBody>
      </p:sp>
      <p:sp>
        <p:nvSpPr>
          <p:cNvPr id="10" name="Oval 9"/>
          <p:cNvSpPr/>
          <p:nvPr/>
        </p:nvSpPr>
        <p:spPr>
          <a:xfrm>
            <a:off x="8183879" y="109728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4719" y="1097280"/>
            <a:ext cx="32461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Packning saknas mellan kontakt och spole.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173736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4719" y="1737360"/>
            <a:ext cx="32461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Ingen PE.</a:t>
            </a:r>
          </a:p>
        </p:txBody>
      </p:sp>
      <p:sp>
        <p:nvSpPr>
          <p:cNvPr id="14" name="Oval 13"/>
          <p:cNvSpPr/>
          <p:nvPr/>
        </p:nvSpPr>
        <p:spPr>
          <a:xfrm>
            <a:off x="8183879" y="237744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4719" y="2377440"/>
            <a:ext cx="32461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Stötväg: hölje · hand · skrov.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301752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4719" y="3017520"/>
            <a:ext cx="32461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IR-vakt ser bara huvudnätet.</a:t>
            </a:r>
          </a:p>
        </p:txBody>
      </p:sp>
      <p:sp>
        <p:nvSpPr>
          <p:cNvPr id="18" name="Oval 17"/>
          <p:cNvSpPr/>
          <p:nvPr/>
        </p:nvSpPr>
        <p:spPr>
          <a:xfrm>
            <a:off x="8183879" y="365760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4719" y="3657600"/>
            <a:ext cx="3246120" cy="44399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Sidokrets lokalt jordad, utanför IR.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Elsäkerhet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Elsäkerhet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OBS och FARA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11338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640080" cy="25603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9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1673352"/>
            <a:ext cx="11082528" cy="12984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IR-vakten ser bara det nät den sitter på.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00400"/>
            <a:ext cx="113385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200400"/>
            <a:ext cx="11338560" cy="32918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/>
          <a:lstStyle/>
          <a:p>
            <a:pPr algn="l"/>
            <a:r>
              <a:rPr sz="1200" b="0" i="0" dirty="0" spc="9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FARA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529584"/>
            <a:ext cx="11082528" cy="1408176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Ingen hand mot stomme som första steg.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Elsäkerhet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960120"/>
            <a:ext cx="11338560" cy="4572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Modul M02 Isolering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1133856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Station V2 · Vecka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-2-1-isolering-kedja-sk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7680960" cy="6528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777240"/>
            <a:ext cx="3657600" cy="29260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 spc="72" cap="all">
                <a:solidFill>
                  <a:srgbClr val="111111"/>
                </a:solidFill>
                <a:latin typeface="IBM Plex Sans SemiBold"/>
                <a:ea typeface="IBM Plex Sans SemiBold"/>
              </a:rPr>
              <a:t>Legend</a:t>
            </a:r>
          </a:p>
        </p:txBody>
      </p:sp>
      <p:sp>
        <p:nvSpPr>
          <p:cNvPr id="10" name="Oval 9"/>
          <p:cNvSpPr/>
          <p:nvPr/>
        </p:nvSpPr>
        <p:spPr>
          <a:xfrm>
            <a:off x="8183879" y="114300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4719" y="1143000"/>
            <a:ext cx="3246120" cy="2794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FRÅN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178308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4719" y="1783080"/>
            <a:ext cx="3246120" cy="2794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LÅS/SKYLT</a:t>
            </a:r>
          </a:p>
        </p:txBody>
      </p:sp>
      <p:sp>
        <p:nvSpPr>
          <p:cNvPr id="14" name="Oval 13"/>
          <p:cNvSpPr/>
          <p:nvPr/>
        </p:nvSpPr>
        <p:spPr>
          <a:xfrm>
            <a:off x="8183879" y="242316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4719" y="2423160"/>
            <a:ext cx="3246120" cy="2794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PROVA DÖD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306324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4719" y="3063240"/>
            <a:ext cx="3246120" cy="2794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MEGGER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Elsäkerhet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114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Två spår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120640" cy="4114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Elektriker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5120640" cy="256032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Leta inte JFB.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5120640" cy="4114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Ingenjör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5120640" cy="256032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Läckagesökning är elarbete när komponenten kan vara spänningssatt.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Elsäkerhet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teknik v3">
  <a:themeElements>
    <a:clrScheme name="Elteknik v3">
      <a:dk1>
        <a:srgbClr val="111111"/>
      </a:dk1>
      <a:lt1>
        <a:srgbClr val="FFFFFF"/>
      </a:lt1>
      <a:dk2>
        <a:srgbClr val="111111"/>
      </a:dk2>
      <a:lt2>
        <a:srgbClr val="FFFFFF"/>
      </a:lt2>
      <a:accent1>
        <a:srgbClr val="E6002D"/>
      </a:accent1>
      <a:accent2>
        <a:srgbClr val="F39700"/>
      </a:accent2>
      <a:accent3>
        <a:srgbClr val="1A1A1A"/>
      </a:accent3>
      <a:accent4>
        <a:srgbClr val="6B2D5B"/>
      </a:accent4>
      <a:accent5>
        <a:srgbClr val="111111"/>
      </a:accent5>
      <a:accent6>
        <a:srgbClr val="111111"/>
      </a:accent6>
      <a:hlink>
        <a:srgbClr val="111111"/>
      </a:hlink>
      <a:folHlink>
        <a:srgbClr val="111111"/>
      </a:folHlink>
    </a:clrScheme>
    <a:fontScheme name="Office">
      <a:majorFont>
        <a:latin typeface="IBM Plex Sans"/>
        <a:ea typeface="IBM Plex Sans"/>
        <a:cs typeface="IBM Plex Sans"/>
        <a:font script="Jpan" typeface="IBM Plex Sans"/>
        <a:font script="Hang" typeface="IBM Plex Sans"/>
        <a:font script="Hans" typeface="IBM Plex Sans"/>
        <a:font script="Hant" typeface="IBM Plex San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IBM Plex Sans"/>
        <a:cs typeface="IBM Plex Sans"/>
        <a:font script="Jpan" typeface="IBM Plex Sans"/>
        <a:font script="Hang" typeface="IBM Plex Sans"/>
        <a:font script="Hans" typeface="IBM Plex Sans"/>
        <a:font script="Hant" typeface="IBM Plex San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