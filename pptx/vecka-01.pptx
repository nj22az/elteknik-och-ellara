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inte isolation som handling. Det kommer i m2. I dag: var stöten går, varför JFB och ELSÄK inte är skyddet, och en SMS-punkt.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inte isolation som handling. Det kommer i m2. I dag: var stöten går, varför JFB och ELSÄK inte är skyddet, och en SMS-punkt.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1.1.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de tre första. Full risktext är hemuppgift, inte en föreläsning. Isolation som handling är inte den här veckan.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med PE och ELSÄK. Ingenjören tar med rummet och pumpen. Båda hålen tar vi i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Pekövning på fotot, inte på jobbet. Ingen lucka som läxa.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mening. Inte SHK-el-plus-fall, den rapporten finns inte i paketet.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är skall, inte ett tips. 5 kap. 1–4 och 6–7 § (nöd, batteri, landnät) undervisas inte här. FSL: sjövärdighet och arbetsmiljö ombord. Stöt är båda. Klistra inte in föreskriften.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Quizzen sitter här. Aldrig ”lagen kräver 1 MΩ”. Megger är inte den här veckan. ”Så här görs kontroll” är inte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mening till elektrikern. Sen vidare. Inte EMC-modul.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Leta inte JFB. Landreflexen är fel här. IR på huvudnätet hade inte räddat Germanica.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Olyckor-sidan namnger inte Germanica. Blanda inte källorna. SHK 2024:04 är rapporten. Olyckor-sidan är slitage/SMS.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juni 2022, ingenjör vid barlastpump. 14 juli kollega söker läckage, stöt från våt magnetventil. Inte megger här. Eleven ska *se* varför IR inte räddade 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Fel land: JFB hade löst. Fel maskin: läckage är mekanik. Båda felen tar vi i protokollet.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Isolation och megger = m2. Här räcker varför du inte börjar. Ser du handen först i inlämningen: IG, stoppa tråden.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Rätta mot stötvägen, inte mot hur väl de kan barlastsystemet. Mata inte VG-orden.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Fyra frågor. Facit finns i quizbladet, inte på sliden. Fånga JFB-jakt och 1 MΩ-som-lag där.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frågor som vill in i m2.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IBM Plex Sans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IBM Plex Sans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IBM Plex Sans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IBM Plex Sans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IBM Plex Sans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IBM Plex Sans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9164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Medium"/>
                <a:ea typeface="IBM Plex Sans Medium"/>
              </a:rPr>
              <a:t>Elteknik och ellära  ·  45 YH-poäng  ·  Vecka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2057400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Stötväg ombord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743200"/>
            <a:ext cx="3840480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880360"/>
            <a:ext cx="11338560" cy="3657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Modul 1  ·  elsäkerhet, stötar, elens verkningar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291840"/>
            <a:ext cx="11338560" cy="73152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Distans. SHK 2024:04 / STENA GERMANICA som låst fall. Inte megger den här veckan.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297680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492" y="4297680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64630" y="4260342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4279392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150" y="4297680"/>
            <a:ext cx="219456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1.1 Stötväg ombord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173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Elteknik och ellära · vecka 1 · distans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928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SHK 2024:04 som namngivet fall. Inte megger.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ur-1-1-stotvag-ventil-sk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6159260" cy="5440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777240"/>
            <a:ext cx="3657600" cy="29260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 spc="72" cap="all">
                <a:solidFill>
                  <a:srgbClr val="111111"/>
                </a:solidFill>
                <a:latin typeface="IBM Plex Sans SemiBold"/>
                <a:ea typeface="IBM Plex Sans SemiBold"/>
              </a:rPr>
              <a:t>Legend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1115568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4719" y="1115568"/>
            <a:ext cx="3246120" cy="69494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Packning saknas mellan kontakt och spole.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1645919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4719" y="1645919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PE.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2176272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4719" y="2176272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Stötväg: hölje · hand · skrov.</a:t>
            </a:r>
          </a:p>
        </p:txBody>
      </p:sp>
      <p:sp>
        <p:nvSpPr>
          <p:cNvPr id="16" name="Oval 15"/>
          <p:cNvSpPr/>
          <p:nvPr/>
        </p:nvSpPr>
        <p:spPr>
          <a:xfrm>
            <a:off x="8183879" y="2706624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4719" y="2706624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IR-vakt ser bara huvudnätet.</a:t>
            </a:r>
          </a:p>
        </p:txBody>
      </p:sp>
      <p:sp>
        <p:nvSpPr>
          <p:cNvPr id="18" name="Oval 17"/>
          <p:cNvSpPr/>
          <p:nvPr/>
        </p:nvSpPr>
        <p:spPr>
          <a:xfrm>
            <a:off x="8183879" y="3236976"/>
            <a:ext cx="279400" cy="2794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4719" y="3236976"/>
            <a:ext cx="324612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"/>
                <a:ea typeface="IBM Plex Sans"/>
              </a:rPr>
              <a:t>Sidokrets lokalt jordad, utanför IR.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Efter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Peka stötväg in och 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Säg att ELSÄK-JFB inte är skyddet ombord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Koppla en SMS-punkt: packning, jord, eller krets utanför 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VG: varför IR-vakten var tyst, vad du gör innan beröring, stöt → vård iland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Två spår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89888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Leta inte JFB.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Ingenjör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7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Läckagesökning är elarbete när komponenten kan vara spänningssatt.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Stötväg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Ström genom kroppen: en väg in, en väg 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Ofta skrov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Fukt gör höljet till ledare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Pannrum, barlastpump, magnetventil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072384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kaj. Inte EX. Inte nödgenerator.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Varför vi bryr 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Kramp, släppförmåga, hjärta — G-golv, inte medicinkurs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Höjd: stöten dödar inte alltid. Fallet kan göra det. (TS olyckor-sida, upplysning)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Skall, en mening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 ombord ska vara gjord och monterad så att risken för stöt — och för brand, kortslutning och explosion — blir så liten som det går.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21408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TSFS 2017:26 5 kap. 5 §. Parafras. Inte lagtext på sliden.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skall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11338560" cy="4754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0" bIns="0"/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Påstående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59" y="1389888"/>
            <a:ext cx="3840481" cy="4754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0" bIns="0"/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Nivå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65376"/>
            <a:ext cx="11338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65376"/>
            <a:ext cx="7498079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”Så här görs kontroll”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1865376"/>
            <a:ext cx="3840481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upplysning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40864"/>
            <a:ext cx="11338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40864"/>
            <a:ext cx="7498079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1 MΩ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59" y="2340864"/>
            <a:ext cx="3840481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upplysning, inte 5 §-skall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2"/>
            <a:ext cx="11338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2"/>
            <a:ext cx="7498079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IR-vakt på ojordade kretsar &gt; 50 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59" y="2816352"/>
            <a:ext cx="3840481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allmänna råd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91840"/>
            <a:ext cx="11338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40"/>
            <a:ext cx="7498079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Packning tillbaka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59" y="3291840"/>
            <a:ext cx="3840481" cy="47548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avledning, ingen TS-rubrik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ELSÄK-hålet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Installationsregler styr i allmänhet inte på fartyg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Undantag: EMC (ELSÄK-FS 2016:3) — inte den här lektionens djup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ELSÄK-auktorisation räcker inte ensam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upphävda 2008:1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63824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072384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”Båt på land = ELSÄK” är TS-webb, inte lag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JFB-jakt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Oftast ingen JFB i isolerat huvudnät (driftsäkerhet)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IR-vakt larmar. Den slår inte ifrån.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Den ser bara det nät den sitter på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651760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En lokalt jordad sidokrets syns inte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SMS, var rutinerna bor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389888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FSL 2 kap. 9–10 §§: rutinerna i rederiets SMS, inte i huvudet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019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051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Olyckor-sidan: slitage, packning, skåp, genomföringar — byt i tid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225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231136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Isolationsrutin i underhåll = SMS, övas i m2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Germanica, fem punkter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SHK 2024:04. Parafras, inte rapportbilaga.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883664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103" y="1883664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Packning saknades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330704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9103" y="2330704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skyddsjord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777744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9103" y="2777744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Kablar skiftade: ventilen spänningssatt så länge pumpen gick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224784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9103" y="3224784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Kretsen lokalt jordad, utanför IR — vakten tyst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3671824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103" y="3671824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Felen rörde inte driften → ingen indikation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Rätt kedja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38988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103" y="138988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Fas i hölje → våt hand → skrov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83692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103" y="183692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Packning + jord + sidokrets utanför IR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28396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9103" y="228396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SMS: packning åter, jord, sidokrets övervakad eller behandlad som spänningssatt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731008"/>
            <a:ext cx="355600" cy="3556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IBM Plex Sans SemiBold"/>
                <a:ea typeface="IBM Plex Sans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103" y="2731008"/>
            <a:ext cx="10470896" cy="35560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Efter stöt: vård iland, inte ”skaka av det”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Stopp den här veckan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89888"/>
            <a:ext cx="1133856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389888"/>
            <a:ext cx="1133856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0" bIns="0"/>
          <a:lstStyle/>
          <a:p>
            <a:pPr algn="l"/>
            <a:r>
              <a:rPr sz="1200" b="0" i="0" dirty="0" spc="96" cap="all">
                <a:solidFill>
                  <a:srgbClr val="FFFFFF"/>
                </a:solidFill>
                <a:latin typeface="IBM Plex Sans SemiBold"/>
                <a:ea typeface="IBM Plex Sans SemiBold"/>
              </a:rPr>
              <a:t>FARA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3852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1847088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beröring av våt elkomponent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35915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267712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”jag kan anläggningen”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79776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88336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megger som ersättning för stötbedömning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200400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108960"/>
            <a:ext cx="1066190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Ingen lucka på jobbet som läxa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Hemuppgift: labbprotokoll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Felanmälan: ”Det läcker vid pumpen, känn efter var.” Foto i Classroom. Inte ett namngivet övningsfartyg på intyg.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240280"/>
            <a:ext cx="5486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stötväg in/ut; minst två av packning / jord / utanför IR; en SMS-åtgärd du inte hoppar; ELSÄK-JFB är inte skyddet.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04872"/>
            <a:ext cx="512064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VG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80360"/>
            <a:ext cx="5120640" cy="31089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fyra rader själv: varför IR var tyst; vad innan beröring och varför; stöt → iland.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Två saker ni ska kunna skilja: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92807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Skall: 5 kap. 1–7 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04872"/>
            <a:ext cx="91440" cy="914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13432"/>
            <a:ext cx="10753344" cy="329184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Inte skall: ”Så här görs kontroll”, 1 MΩ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07492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Gör quizzen i Classroom den här veckan.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01168"/>
            <a:ext cx="494284" cy="204469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5492" y="201168"/>
            <a:ext cx="411480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Elsäkerhet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02682" y="163830"/>
            <a:ext cx="278130" cy="278130"/>
          </a:xfrm>
          <a:prstGeom prst="rect">
            <a:avLst/>
          </a:prstGeom>
          <a:noFill/>
          <a:ln w="190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21732" y="182880"/>
            <a:ext cx="240030" cy="24003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0" i="0" dirty="0" spc="84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3202" y="201168"/>
            <a:ext cx="1645920" cy="204469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8368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822960"/>
            <a:ext cx="11338560" cy="438912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2800" b="0" i="0" dirty="0">
                <a:solidFill>
                  <a:srgbClr val="111111"/>
                </a:solidFill>
                <a:latin typeface="IBM Plex Sans SemiBold"/>
                <a:ea typeface="IBM Plex Sans SemiBold"/>
              </a:rPr>
              <a:t>Inte i 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11338560" cy="64008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Meggerprocedur. 1 MΩ som labbgräns. Hållkrets. Losskoppling. IP-tabell. Intyg. Nöd. Landström. 2024:58. EX. Arduino.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840480"/>
            <a:ext cx="11338560" cy="384048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800" b="0" i="0" dirty="0">
                <a:solidFill>
                  <a:srgbClr val="111111"/>
                </a:solidFill>
                <a:latin typeface="IBM Plex Sans"/>
                <a:ea typeface="IBM Plex Sans"/>
              </a:rPr>
              <a:t>LIA: samma pekning under handledare. Isolation själv efter m2.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73952"/>
            <a:ext cx="11365992" cy="444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6528816"/>
            <a:ext cx="423672" cy="175260"/>
          </a:xfrm>
          <a:prstGeom prst="rect">
            <a:avLst/>
          </a:prstGeom>
          <a:solidFill>
            <a:srgbClr val="E60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M01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304" y="6528816"/>
            <a:ext cx="2194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Elsäkerhet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6528816"/>
            <a:ext cx="205740" cy="2057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 dirty="0" spc="72" cap="all">
                <a:solidFill>
                  <a:srgbClr val="FFFFFF"/>
                </a:solidFill>
                <a:latin typeface="IBM Plex Sans SemiBold"/>
                <a:ea typeface="IBM Plex Sans SemiBold"/>
              </a:rPr>
              <a:t>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2252" y="6528816"/>
            <a:ext cx="146304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l"/>
            <a:r>
              <a:rPr sz="1200" b="0" i="0" dirty="0">
                <a:solidFill>
                  <a:srgbClr val="111111"/>
                </a:solidFill>
                <a:latin typeface="IBM Plex Sans Medium"/>
                <a:ea typeface="IBM Plex Sans Medium"/>
              </a:rPr>
              <a:t>Vecka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28816"/>
            <a:ext cx="1051560" cy="175260"/>
          </a:xfrm>
          <a:prstGeom prst="rect">
            <a:avLst/>
          </a:prstGeom>
          <a:noFill/>
        </p:spPr>
        <p:txBody>
          <a:bodyPr wrap="square" lIns="25400" rIns="25400" tIns="0" bIns="0"/>
          <a:lstStyle/>
          <a:p>
            <a:pPr algn="r"/>
            <a:r>
              <a:rPr sz="1200" b="0" i="0" dirty="0" spc="72">
                <a:solidFill>
                  <a:srgbClr val="111111"/>
                </a:solidFill>
                <a:latin typeface="IBM Plex Sans SemiBold"/>
                <a:ea typeface="IBM Plex Sans SemiBold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teknik v3">
  <a:themeElements>
    <a:clrScheme name="Elteknik v3">
      <a:dk1>
        <a:srgbClr val="111111"/>
      </a:dk1>
      <a:lt1>
        <a:srgbClr val="FFFFFF"/>
      </a:lt1>
      <a:dk2>
        <a:srgbClr val="111111"/>
      </a:dk2>
      <a:lt2>
        <a:srgbClr val="FFFFFF"/>
      </a:lt2>
      <a:accent1>
        <a:srgbClr val="E6002D"/>
      </a:accent1>
      <a:accent2>
        <a:srgbClr val="1A1A1A"/>
      </a:accent2>
      <a:accent3>
        <a:srgbClr val="111111"/>
      </a:accent3>
      <a:accent4>
        <a:srgbClr val="111111"/>
      </a:accent4>
      <a:accent5>
        <a:srgbClr val="111111"/>
      </a:accent5>
      <a:accent6>
        <a:srgbClr val="111111"/>
      </a:accent6>
      <a:hlink>
        <a:srgbClr val="111111"/>
      </a:hlink>
      <a:folHlink>
        <a:srgbClr val="111111"/>
      </a:folHlink>
    </a:clrScheme>
    <a:fontScheme name="Office">
      <a:maj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IBM Plex Sans"/>
        <a:cs typeface="IBM Plex Sans"/>
        <a:font script="Jpan" typeface="IBM Plex Sans"/>
        <a:font script="Hang" typeface="IBM Plex Sans"/>
        <a:font script="Hans" typeface="IBM Plex Sans"/>
        <a:font script="Hant" typeface="IBM Plex Sans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