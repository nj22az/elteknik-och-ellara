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DC-räkning som lektion. Inte trefas. Den här veckan är rms, AC-läge och en resistiv 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isolation (2.1). Inte DC-räkning (3.1). Inte trefas (m5). Inte 440 V. Den här veckan är rms, AC-läge och en resistiv 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figur 4.1. Låt dem peka. Hitta inte på lagtext. Inte IP-tabell. Inte 80005.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 är papper/foto. Händer-DMM är ticket till Labbdag v2, inte läxa.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raderna rakt av. Elektrikern tar TN och JFB. Ingenjören tar hyttuttaget som 24 V. Båda är fel kedja.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§ är risken när du tror det är av. Rms-formeln är ellära, inte en TSFS-paragraf.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Övningen är papper, sinus och foto. Inredningsuttag som begrepp, inte live fartygsuttag.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Ingenjörshålet. Isolation och område ska tåla toppen, inte 24 V-tänk. Klenspänning ca 50 V AC är upplysning, inte 5 §-skall-siffra — nämn bara om någon frågar, inte som 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Ett tal. Inte trefas. Avläsning mot räkning: om de inte stämmer är det fel läge eller fel krets, inte “ungefär”.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3.1-felet (ampere över källan) gäller AC också. Stoppa det. Polaritet som batteriplus för att *finnas* = 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Typfelet: kvar DC från 24 V-batteri. “Det är av.” Nej. Tvåpol/AC från 2.1.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Elektrikerhålet. En mening. Inte EMC, inte trefas.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händer. Inte live. Inte 440 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Typfel, inte Germanica. “230 i hytten är som 24 i maskin” är maskinreflexen.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Grind: 2.1 om fartygsgrupp. 3.1 polaritet på DC. Här: AC-läge + 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IG och stoppa tråden. På varvet: läraren får visa DC-läge som underkänt exempel. Eleven gör det inte på spänningssatt.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Fyra frågor. Facit i quizbladet. Fånga “24 V tål allt” och trefas.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Stoppa trefas- och 440 V-frågor. Peka framåt, gå inte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IBM Plex Sans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IBM Plex Sans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IBM Plex Sans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IBM Plex Sans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IBM Plex Sans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91640"/>
            <a:ext cx="1133856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 spc="72" cap="all">
                <a:solidFill>
                  <a:srgbClr val="111111"/>
                </a:solidFill>
                <a:latin typeface="IBM Plex Sans Medium"/>
                <a:ea typeface="IBM Plex Sans Medium"/>
              </a:rPr>
              <a:t>Elteknik och ellära  ·  45 YH-poäng  ·  Vecka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2057400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2743200"/>
            <a:ext cx="3840480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880360"/>
            <a:ext cx="1133856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Modul 4  ·  rms, mät och räkna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291840"/>
            <a:ext cx="11338560" cy="73152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Distans. Papper och ELV-foto. Inte trefas. Inte 440 V.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297680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492" y="4297680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9" name="Rectangle 8"/>
          <p:cNvSpPr/>
          <p:nvPr/>
        </p:nvSpPr>
        <p:spPr>
          <a:xfrm>
            <a:off x="6564630" y="4260342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4279392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5150" y="4297680"/>
            <a:ext cx="219456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4.1 Enfas AC: rms, mät och räkna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417320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Elteknik och ellära · vecka 4 · distans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92808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Papper och ELV-foto. Händer = varvsdagen, isolerad tränare eller död tavla.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ur-4-1-enfas-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35240" cy="4292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83879" y="777240"/>
            <a:ext cx="3657600" cy="29260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 spc="72" cap="all">
                <a:solidFill>
                  <a:srgbClr val="111111"/>
                </a:solidFill>
                <a:latin typeface="IBM Plex Sans SemiBold"/>
                <a:ea typeface="IBM Plex Sans SemiBold"/>
              </a:rPr>
              <a:t>Legend</a:t>
            </a:r>
          </a:p>
        </p:txBody>
      </p:sp>
      <p:sp>
        <p:nvSpPr>
          <p:cNvPr id="10" name="Oval 9"/>
          <p:cNvSpPr/>
          <p:nvPr/>
        </p:nvSpPr>
        <p:spPr>
          <a:xfrm>
            <a:off x="8183879" y="1115568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4719" y="1115568"/>
            <a:ext cx="324612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230 V är rms, topp cirka 325 V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182880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4719" y="1828800"/>
            <a:ext cx="324612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DMM i AC-läge</a:t>
            </a:r>
          </a:p>
        </p:txBody>
      </p:sp>
      <p:sp>
        <p:nvSpPr>
          <p:cNvPr id="14" name="Oval 13"/>
          <p:cNvSpPr/>
          <p:nvPr/>
        </p:nvSpPr>
        <p:spPr>
          <a:xfrm>
            <a:off x="8183879" y="2542032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54719" y="2542032"/>
            <a:ext cx="3246120" cy="69494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DMM i DC-läge — noll är inte bevisad död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Efter den här veckan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389888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Rms mot topp på sinus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019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051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 = U_rms / R på resistiv enfas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225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231136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Läsa DMM i AC-läge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651760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VG: DC-läge på AC är mätfel och 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Två spår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389888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512064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Elektriker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29967"/>
            <a:ext cx="5120640" cy="31089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230 V ombord ≠ lägenhet.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554480"/>
            <a:ext cx="512064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Ingenjör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7"/>
            <a:ext cx="5120640" cy="31089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Rms innan du klämmer på.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Skall, en mening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Mät enfas så att mätningen inte blir stöt eller kort. AC-spänning läses som rms i AC-läge. Räkna slingan. Inte DC-område på AC. Inte live huvudtavla.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21408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TSFS 2017:26 5 kap. 5 §. Parafras. Klistra inte lagtext.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den här veckan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389888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Trefas, fasföljd (m5)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019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051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440 V, MSB, live fartygsnät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225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231136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Isolation/megger (2.1)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651760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DC serie/parallell (3.1)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63824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072384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Händer-DMM hemma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Rms och topp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“230 V” är rms. På sinus: topp ≈ rms × √2, runt 325 V. DMM i AC-läge visar rms, inte toppen.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Räkna resistiv enfas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 = Urms/R.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65376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Exempel i bladet: 230 V rms, 1 kΩ → I ≈ 0,23 A. Topp ≈ 325 V.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Mät AC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389888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DMM AC V parallellt över last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019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051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Ström: AC-ström i serie, eller tång kring *en* ledare — inte som volt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225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231136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DC-läge på 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651760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AC har ingen fast plus. Inte “hitta nollan som PE”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DC-läge på AC är fel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113385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38560" cy="32918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0" bIns="0"/>
          <a:lstStyle/>
          <a:p>
            <a:pPr algn="l"/>
            <a:r>
              <a:rPr sz="1200" b="0" i="0" dirty="0" spc="96" cap="all">
                <a:solidFill>
                  <a:srgbClr val="FFFFFF"/>
                </a:solidFill>
                <a:latin typeface="IBM Plex Sans SemiBold"/>
                <a:ea typeface="IBM Plex Sans SemiBold"/>
              </a:rPr>
              <a:t>FARA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1746504"/>
            <a:ext cx="11082528" cy="1682496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Visningen ljuger eller mätaren far illa. Nära noll i DC-läge är inte bevisad spänningslöshet.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230 V ombord ≠ lägenhet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lägenhetens TN. Referens kan vara skrov/IT, inte PE-nolla hemma. Isolation först = 2.1, inte “det sitter JFB”.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Fotoövningen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 Classroom: sinus rms mot topp; resistiv enfas med U_rms och R. Foto 1: DMM AC V, avläsning. Foto 2: DMM DC V på samma AC-övning (märkt fel).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24028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24028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04872"/>
            <a:ext cx="512064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80360"/>
            <a:ext cx="5120640" cy="31089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rms och ungefär topp; räkna I; välj AC-bilden; en mening att DC-bilden är fel läge.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404872"/>
            <a:ext cx="512064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80360"/>
            <a:ext cx="5120640" cy="31089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risk: falskt “av” eller skada. Koppla till 5 §.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Genomgånget fel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230 V-enfas till värmare. Ingenjör: DMM kvar i DC-läge. Visar noll eller skräp. “Det är av.” Elektriker: mäter mot skrov som PE, utgår från JFB.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21408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Räkning som saknades: 230 V rms, 1 kΩ → 0,23 A. Topp ≈ 325 V.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Rätt kedja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38988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9103" y="138988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AC-läge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183692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9103" y="183692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Rms i räkningen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28396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9103" y="228396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Volt över / ström i serie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273100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9103" y="273100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Jämför avläsning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17804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9103" y="317804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Noll i DC-läge på AC är inte av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Stopp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11338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389888"/>
            <a:ext cx="11338560" cy="32918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0" bIns="0"/>
          <a:lstStyle/>
          <a:p>
            <a:pPr algn="l"/>
            <a:r>
              <a:rPr sz="1200" b="0" i="0" dirty="0" spc="96" cap="all">
                <a:solidFill>
                  <a:srgbClr val="FFFFFF"/>
                </a:solidFill>
                <a:latin typeface="IBM Plex Sans SemiBold"/>
                <a:ea typeface="IBM Plex Sans SemiBold"/>
              </a:rPr>
              <a:t>FARA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9385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1847088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DC-område på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3591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2267712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Mätning på live MSB / 440 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7797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688336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Ampère över källan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200400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108960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“24 V tål allt”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621024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" y="3529584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Händer-DMM som läxa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Tre saker: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892807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230 V är 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0487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31343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DC-läge på AC är fel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2549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734056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Noll i DC är inte av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074920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Gör quizzen i Classroom den här veckan.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Enfas AC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i 4.1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Trefas/fasföljd. DC-räkning. Isolation/megger. Stötväg. 230 V-uttag som installation. Live fartygsnät. Arduino.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840480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LIA: samma rms-och-AC-läge under handledning, inte på spänningssatt huvudtavla.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A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Enfas AC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teknik v3">
  <a:themeElements>
    <a:clrScheme name="Elteknik v3">
      <a:dk1>
        <a:srgbClr val="111111"/>
      </a:dk1>
      <a:lt1>
        <a:srgbClr val="FFFFFF"/>
      </a:lt1>
      <a:dk2>
        <a:srgbClr val="111111"/>
      </a:dk2>
      <a:lt2>
        <a:srgbClr val="FFFFFF"/>
      </a:lt2>
      <a:accent1>
        <a:srgbClr val="00A7DB"/>
      </a:accent1>
      <a:accent2>
        <a:srgbClr val="1B3A5C"/>
      </a:accent2>
      <a:accent3>
        <a:srgbClr val="111111"/>
      </a:accent3>
      <a:accent4>
        <a:srgbClr val="111111"/>
      </a:accent4>
      <a:accent5>
        <a:srgbClr val="111111"/>
      </a:accent5>
      <a:accent6>
        <a:srgbClr val="111111"/>
      </a:accent6>
      <a:hlink>
        <a:srgbClr val="111111"/>
      </a:hlink>
      <a:folHlink>
        <a:srgbClr val="111111"/>
      </a:folHlink>
    </a:clrScheme>
    <a:fontScheme name="Office">
      <a:majorFont>
        <a:latin typeface="IBM Plex Sans"/>
        <a:ea typeface="IBM Plex Sans"/>
        <a:cs typeface="IBM Plex Sans"/>
        <a:font script="Jpan" typeface="IBM Plex Sans"/>
        <a:font script="Hang" typeface="IBM Plex Sans"/>
        <a:font script="Hans" typeface="IBM Plex Sans"/>
        <a:font script="Hant" typeface="IBM Plex Sans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IBM Plex Sans"/>
        <a:cs typeface="IBM Plex Sans"/>
        <a:font script="Jpan" typeface="IBM Plex Sans"/>
        <a:font script="Hang" typeface="IBM Plex Sans"/>
        <a:font script="Hans" typeface="IBM Plex Sans"/>
        <a:font script="Hant" typeface="IBM Plex Sans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