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DC-räkning som lektion. Inte trefas. Den här veckan är rms, AC-läge och en resistiv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isolation (2.1). Inte DC-räkning (3.1). Inte trefas (m5). Inte 440 V. Den här veckan är rms, AC-läge och en resistiv I.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Visa figur 4.1. Låt dem peka. Hitta inte på lagtext. Inte IP-tabell. Inte 80005.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 är papper/foto. Händer-DMM är ticket till Labbdag v2, inte läxa.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Säg raderna rakt av. Elektrikern tar TN och JFB. Ingenjören tar hyttuttaget som 24 V. Båda är fel kedja.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 § är risken när du tror det är av. Rms-formeln är ellära, inte en TSFS-paragraf.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Övningen är papper, sinus och foto. Inredningsuttag som begrepp, inte live fartygsuttag.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Ingenjörshålet. Isolation och område ska tåla toppen, inte 24 V-tänk. Klenspänning ca 50 V AC är upplysning, inte 5 §-skall-siffra — nämn bara om någon frågar, inte som lag.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Ett tal. Inte trefas. Avläsning mot räkning: om de inte stämmer är det fel läge eller fel krets, inte “ungefär”.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3.1-felet (ampere över källan) gäller AC också. Stoppa det. Polaritet som batteriplus för att *finnas* = IG.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Typfelet: kvar DC från 24 V-batteri. “Det är av.” Nej. Tvåpol/AC från 2.1.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Elektrikerhålet. En mening. Inte EMC, inte trefas.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 händer. Inte live. Inte 440 V.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Typfel, inte Germanica. “230 i hytten är som 24 i maskin” är maskinreflexen.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Grind: 2.1 om fartygsgrupp. 3.1 polaritet på DC. Här: AC-läge + rms.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IG och stoppa tråden. På varvet: läraren får visa DC-läge som underkänt exempel. Eleven gör det inte på spänningssatt.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Fyra frågor. Facit i quizbladet. Fånga “24 V tål allt” och trefas.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Stoppa trefas- och 440 V-frågor. Peka framåt, gå inte dit.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1554480"/>
            <a:ext cx="10424160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1" i="0">
                <a:solidFill>
                  <a:srgbClr val="1F4D3A"/>
                </a:solidFill>
                <a:latin typeface="Calibri"/>
              </a:rPr>
              <a:t>ELTEKNIK OCH ELLÄRA  ·  45 YH-POÄNG  ·  VECKA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011680"/>
            <a:ext cx="10515600" cy="128016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4000" b="1" i="0">
                <a:solidFill>
                  <a:srgbClr val="1D1D1F"/>
                </a:solidFill>
                <a:latin typeface="Calibri"/>
              </a:rPr>
              <a:t>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383280"/>
            <a:ext cx="10515600" cy="64008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6E6E73"/>
                </a:solidFill>
                <a:latin typeface="Calibri"/>
              </a:rPr>
              <a:t>Modul 4  ·  rms, mät och räkna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4160520"/>
            <a:ext cx="1371600" cy="4572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22960" y="4389120"/>
            <a:ext cx="10515600" cy="7315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600" b="0" i="0">
                <a:solidFill>
                  <a:srgbClr val="1D1D1F"/>
                </a:solidFill>
                <a:latin typeface="Calibri"/>
              </a:rPr>
              <a:t>Distans. Papper och ELV-foto. Inte trefas. Inte 440 V.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6309360"/>
            <a:ext cx="10058400" cy="27432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 / 18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4.1 Enfas AC: rms, mät och räkna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Elteknik och ellära · vecka 4 · distans Papper och ELV-foto. Händer = varvsdagen, isolerad tränare eller död tavla.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2 / 18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Figur 4.1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figur-4-1-enfas-a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0571" y="1371600"/>
            <a:ext cx="7400376" cy="4160520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58368" y="5623560"/>
            <a:ext cx="10875263" cy="77724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300" b="0" i="0">
                <a:solidFill>
                  <a:srgbClr val="6E6E73"/>
                </a:solidFill>
                <a:latin typeface="Calibri"/>
              </a:rPr>
              <a:t>Sinus: 230 V är rms, topp cirka 325 V. Samma krets: DMM i AC-läge mot DMM i DC-läge. Noll i DC är inte bevisad död.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3 / 18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Efter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511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Rms mot topp på sinus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I = U_rms / R på resistiv enfas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Läsa DMM i AC-läge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VG: DC-läge på AC är mätfel och risk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4 / 18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Två spår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658368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58368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Elektriker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>230 V ombord ≠ lägenhet. </a:t>
            </a:r>
            <a:r>
              <a:rPr sz="1800" b="1" i="0">
                <a:solidFill>
                  <a:srgbClr val="1D1D1F"/>
                </a:solidFill>
                <a:latin typeface="Calibri"/>
              </a:rPr>
              <a:t>Ingenjör:</a:t>
            </a:r>
            <a:r>
              <a:rPr sz="1800" b="0" i="0">
                <a:solidFill>
                  <a:srgbClr val="1D1D1F"/>
                </a:solidFill>
                <a:latin typeface="Calibri"/>
              </a:rPr>
              <a:t> Rms innan du klämmer på.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196583" y="1353312"/>
            <a:ext cx="5337047" cy="2148840"/>
          </a:xfrm>
          <a:prstGeom prst="roundRect">
            <a:avLst>
              <a:gd name="adj" fmla="val 8000"/>
            </a:avLst>
          </a:prstGeom>
          <a:solidFill>
            <a:srgbClr val="F4F7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196583" y="1353312"/>
            <a:ext cx="82296" cy="2148840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52615" y="1554480"/>
            <a:ext cx="4898135" cy="329184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400" b="1" i="0">
                <a:solidFill>
                  <a:srgbClr val="1F4D3A"/>
                </a:solidFill>
                <a:latin typeface="Calibri"/>
              </a:rPr>
              <a:t>Ingenjör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52615" y="1920240"/>
            <a:ext cx="4898135" cy="1417320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800" b="0" i="0">
                <a:solidFill>
                  <a:srgbClr val="1D1D1F"/>
                </a:solidFill>
                <a:latin typeface="Calibri"/>
              </a:rPr>
              <a:t/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5 / 18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Skall, en mening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Mät enfas så att mätningen inte blir stöt eller kort. AC-spänning läses som rms i AC-läge. Räkna slingan. Inte DC-område på AC. Inte live huvudtavla.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TSFS 2017:26 5 kap. 5 §. Parafras. Klistra inte lagtext.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6 / 18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den här veckan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Trefas, fasföljd (m5)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440 V, MSB, live fartygsnät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Isolation/megger (2.1)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DC serie/parallell (3.1)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Händer-DMM hemma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7 / 18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Rms och topp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“230 V” är </a:t>
            </a:r>
            <a:r>
              <a:rPr sz="2000" b="1" i="0">
                <a:solidFill>
                  <a:srgbClr val="1D1D1F"/>
                </a:solidFill>
                <a:latin typeface="Calibri"/>
              </a:rPr>
              <a:t>rms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. På sinus: topp ≈ rms × √2, runt 325 V. DMM i AC-läge visar rms, inte toppen.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8 / 18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Räkna resistiv enfas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I = Urms/R.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5158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Exempel i bladet: 230 V rms, 1 kΩ → I ≈ 0,23 A. Topp ≈ 325 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9 / 18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Mät AC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5118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DMM </a:t>
            </a:r>
            <a:r>
              <a:rPr sz="2000" b="1" i="0">
                <a:solidFill>
                  <a:srgbClr val="1D1D1F"/>
                </a:solidFill>
                <a:latin typeface="Calibri"/>
              </a:rPr>
              <a:t>AC V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parallellt över last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Ström: AC-ström i serie, eller tång kring *en* ledare — inte som volt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Inte DC-läge på AC</a:t>
            </a:r>
          </a:p>
          <a:p>
            <a:pPr algn="l">
              <a:spcAft>
                <a:spcPts val="6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•  AC har ingen fast plus. Inte “hitta nollan som PE”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10 / 18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DC-läge på AC är fel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Visningen ljuger eller mätaren far illa. Nära noll i DC-läge är </a:t>
            </a:r>
            <a:r>
              <a:rPr sz="2000" b="1" i="0">
                <a:solidFill>
                  <a:srgbClr val="1D1D1F"/>
                </a:solidFill>
                <a:latin typeface="Calibri"/>
              </a:rPr>
              <a:t>inte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bevisad spänningslöshet.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11 / 18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230 V ombord ≠ lägenhet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Inte lägenhetens TN. Referens kan vara skrov/IT, inte PE-nolla hemma. Isolation först = 2.1, inte “det sitter JFB”.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12 / 18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Fotoövningen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I Classroom: sinus rms mot topp; resistiv enfas med U_rms och R. Foto 1: DMM </a:t>
            </a:r>
            <a:r>
              <a:rPr sz="2000" b="1" i="0">
                <a:solidFill>
                  <a:srgbClr val="1D1D1F"/>
                </a:solidFill>
                <a:latin typeface="Calibri"/>
              </a:rPr>
              <a:t>AC V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, avläsning. Foto 2: DMM </a:t>
            </a:r>
            <a:r>
              <a:rPr sz="2000" b="1" i="0">
                <a:solidFill>
                  <a:srgbClr val="1D1D1F"/>
                </a:solidFill>
                <a:latin typeface="Calibri"/>
              </a:rPr>
              <a:t>DC V</a:t>
            </a:r>
            <a:r>
              <a:rPr sz="2000" b="0" i="0">
                <a:solidFill>
                  <a:srgbClr val="1D1D1F"/>
                </a:solidFill>
                <a:latin typeface="Calibri"/>
              </a:rPr>
              <a:t> på samma AC-övning (märkt fel).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58368" y="5120640"/>
            <a:ext cx="5355335" cy="1234440"/>
          </a:xfrm>
          <a:prstGeom prst="roundRect">
            <a:avLst>
              <a:gd name="adj" fmla="val 8000"/>
            </a:avLst>
          </a:prstGeom>
          <a:solidFill>
            <a:srgbClr val="ECF2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22960" y="5212080"/>
            <a:ext cx="5081015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5468112"/>
            <a:ext cx="5026151" cy="795528"/>
          </a:xfrm>
          <a:prstGeom prst="rect">
            <a:avLst/>
          </a:prstGeom>
          <a:noFill/>
        </p:spPr>
        <p:txBody>
          <a:bodyPr wrap="square"/>
          <a:lstStyle/>
          <a:p>
            <a:r>
              <a:rPr sz="1300" b="0" i="0">
                <a:solidFill>
                  <a:srgbClr val="1F4D3A"/>
                </a:solidFill>
                <a:latin typeface="Calibri"/>
              </a:rPr>
              <a:t>rms och ungefär topp; räkna I; välj AC-bilden; en mening att DC-bilden är fel läge. </a:t>
            </a:r>
            <a:r>
              <a:rPr sz="1300" b="1" i="0">
                <a:solidFill>
                  <a:srgbClr val="1F4D3A"/>
                </a:solidFill>
                <a:latin typeface="Calibri"/>
              </a:rPr>
              <a:t>VG:</a:t>
            </a:r>
            <a:r>
              <a:rPr sz="1300" b="0" i="0">
                <a:solidFill>
                  <a:srgbClr val="1F4D3A"/>
                </a:solidFill>
                <a:latin typeface="Calibri"/>
              </a:rPr>
              <a:t> risk: falskt “av” eller skada. Koppla till 5 §.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13 / 18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Genomgånget fel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230 V-enfas till värmare. Ingenjör: DMM kvar i DC-läge. Visar noll eller skräp. “Det är av.” Elektriker: mäter mot skrov som PE, utgår från JFB.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Räkning som saknades: 230 V rms, 1 kΩ → 0,23 A. Topp ≈ 325 V.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14 / 18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Rätt kedja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1.  AC-läge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2.  Rms i räkningen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3.  Volt över / ström i serie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4.  Jämför avläsning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5.  Noll i DC-läge på AC är inte av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15 / 18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Stopp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1687067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DC-område på AC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Mätning på live MSB / 440 V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Ampère över källan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“24 V tål allt”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Händer-DMM som läxa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16 / 18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Quiz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Tre saker: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719072"/>
            <a:ext cx="10875263" cy="1056131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230 V är rms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DC-läge på AC är fel</a:t>
            </a:r>
          </a:p>
          <a:p>
            <a:pPr algn="l">
              <a:spcAft>
                <a:spcPts val="6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•  Noll i DC är inte av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58368" y="2830067"/>
            <a:ext cx="10875263" cy="365760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1800" b="0" i="0">
                <a:solidFill>
                  <a:srgbClr val="1D1D1F"/>
                </a:solidFill>
                <a:latin typeface="Calibri"/>
              </a:rPr>
              <a:t>Gör quizzen i Classroom den här veckan.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17 / 18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999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999" cy="6400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6510528"/>
            <a:ext cx="10875263" cy="10972"/>
          </a:xfrm>
          <a:prstGeom prst="rect">
            <a:avLst/>
          </a:prstGeom>
          <a:solidFill>
            <a:srgbClr val="D2D2D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58368" y="6547104"/>
            <a:ext cx="9326880" cy="25603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Elteknik och ellära  ·  vecka 4  ·  m4 enfas AC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256032"/>
            <a:ext cx="10875263" cy="292608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0"/>
              </a:spcAft>
            </a:pPr>
            <a:r>
              <a:rPr sz="1200" b="1" i="0">
                <a:solidFill>
                  <a:srgbClr val="1F4D3A"/>
                </a:solidFill>
                <a:latin typeface="Calibri"/>
              </a:rPr>
              <a:t>VECKA 4  ·  MODUL 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8368" y="530352"/>
            <a:ext cx="10875263" cy="713232"/>
          </a:xfrm>
          <a:prstGeom prst="rect">
            <a:avLst/>
          </a:prstGeom>
          <a:noFill/>
        </p:spPr>
        <p:txBody>
          <a:bodyPr wrap="square"/>
          <a:lstStyle/>
          <a:p>
            <a:pPr algn="l"/>
            <a:r>
              <a:rPr sz="2800" b="1" i="0">
                <a:solidFill>
                  <a:srgbClr val="1D1D1F"/>
                </a:solidFill>
                <a:latin typeface="Calibri"/>
              </a:rPr>
              <a:t>Inte i 4.1</a:t>
            </a:r>
          </a:p>
        </p:txBody>
      </p:sp>
      <p:sp>
        <p:nvSpPr>
          <p:cNvPr id="8" name="Rectangle 7"/>
          <p:cNvSpPr/>
          <p:nvPr/>
        </p:nvSpPr>
        <p:spPr>
          <a:xfrm>
            <a:off x="658368" y="1207008"/>
            <a:ext cx="1234440" cy="41148"/>
          </a:xfrm>
          <a:prstGeom prst="rect">
            <a:avLst/>
          </a:prstGeom>
          <a:solidFill>
            <a:srgbClr val="1F4D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53312"/>
            <a:ext cx="10875263" cy="72339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Trefas/fasföljd. DC-räkning. Isolation/megger. Stötväg. 230 V-uttag som installation. Live fartygsnät. Arduino.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076704"/>
            <a:ext cx="10875263" cy="398272"/>
          </a:xfrm>
          <a:prstGeom prst="rect">
            <a:avLst/>
          </a:prstGeom>
          <a:noFill/>
        </p:spPr>
        <p:txBody>
          <a:bodyPr wrap="square"/>
          <a:lstStyle/>
          <a:p>
            <a:pPr algn="l">
              <a:spcAft>
                <a:spcPts val="400"/>
              </a:spcAft>
            </a:pPr>
            <a:r>
              <a:rPr sz="2000" b="0" i="0">
                <a:solidFill>
                  <a:srgbClr val="1D1D1F"/>
                </a:solidFill>
                <a:latin typeface="Calibri"/>
              </a:rPr>
              <a:t>LIA: samma rms-och-AC-läge under handledning, inte på spänningssatt huvudtavla.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78440" y="6547104"/>
            <a:ext cx="1143000" cy="256032"/>
          </a:xfrm>
          <a:prstGeom prst="rect">
            <a:avLst/>
          </a:prstGeom>
          <a:noFill/>
        </p:spPr>
        <p:txBody>
          <a:bodyPr wrap="square"/>
          <a:lstStyle/>
          <a:p>
            <a:pPr algn="r">
              <a:spcAft>
                <a:spcPts val="0"/>
              </a:spcAft>
            </a:pPr>
            <a:r>
              <a:rPr sz="1100" b="0" i="0">
                <a:solidFill>
                  <a:srgbClr val="6E6E73"/>
                </a:solidFill>
                <a:latin typeface="Calibri"/>
              </a:rPr>
              <a:t>18 / 18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